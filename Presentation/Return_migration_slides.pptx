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97" r:id="rId3"/>
    <p:sldId id="275" r:id="rId4"/>
    <p:sldId id="276" r:id="rId5"/>
    <p:sldId id="277" r:id="rId6"/>
    <p:sldId id="257" r:id="rId7"/>
    <p:sldId id="259" r:id="rId8"/>
    <p:sldId id="260" r:id="rId9"/>
    <p:sldId id="261" r:id="rId10"/>
    <p:sldId id="30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8" r:id="rId25"/>
    <p:sldId id="299" r:id="rId26"/>
    <p:sldId id="279" r:id="rId27"/>
    <p:sldId id="280" r:id="rId28"/>
    <p:sldId id="29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  <a:srgbClr val="021F64"/>
    <a:srgbClr val="DAE4FE"/>
    <a:srgbClr val="FFA3A3"/>
    <a:srgbClr val="3E000D"/>
    <a:srgbClr val="032883"/>
    <a:srgbClr val="FFECD1"/>
    <a:srgbClr val="FFD700"/>
    <a:srgbClr val="E6F2FA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2AB09-387F-452C-ACBB-79A8841EE296}" v="5" dt="2026-03-31T15:02:16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isya Krishnan M" userId="895113718514acda" providerId="LiveId" clId="{338C8C4B-27C7-4508-B73F-2D95103D61F3}"/>
    <pc:docChg chg="undo custSel addSld modSld sldOrd">
      <pc:chgData name="Drisya Krishnan M" userId="895113718514acda" providerId="LiveId" clId="{338C8C4B-27C7-4508-B73F-2D95103D61F3}" dt="2026-04-01T03:14:02.563" v="76"/>
      <pc:docMkLst>
        <pc:docMk/>
      </pc:docMkLst>
      <pc:sldChg chg="modSp mod">
        <pc:chgData name="Drisya Krishnan M" userId="895113718514acda" providerId="LiveId" clId="{338C8C4B-27C7-4508-B73F-2D95103D61F3}" dt="2026-03-31T12:59:47.753" v="17" actId="12"/>
        <pc:sldMkLst>
          <pc:docMk/>
          <pc:sldMk cId="159158340" sldId="276"/>
        </pc:sldMkLst>
        <pc:spChg chg="mod">
          <ac:chgData name="Drisya Krishnan M" userId="895113718514acda" providerId="LiveId" clId="{338C8C4B-27C7-4508-B73F-2D95103D61F3}" dt="2026-03-31T12:59:47.753" v="17" actId="12"/>
          <ac:spMkLst>
            <pc:docMk/>
            <pc:sldMk cId="159158340" sldId="276"/>
            <ac:spMk id="3" creationId="{FCD69284-82CE-C834-35CB-89503997EC81}"/>
          </ac:spMkLst>
        </pc:spChg>
      </pc:sldChg>
      <pc:sldChg chg="ord">
        <pc:chgData name="Drisya Krishnan M" userId="895113718514acda" providerId="LiveId" clId="{338C8C4B-27C7-4508-B73F-2D95103D61F3}" dt="2026-03-31T15:03:04.186" v="74"/>
        <pc:sldMkLst>
          <pc:docMk/>
          <pc:sldMk cId="2966267025" sldId="299"/>
        </pc:sldMkLst>
      </pc:sldChg>
      <pc:sldChg chg="addSp delSp modSp new mod ord setBg">
        <pc:chgData name="Drisya Krishnan M" userId="895113718514acda" providerId="LiveId" clId="{338C8C4B-27C7-4508-B73F-2D95103D61F3}" dt="2026-04-01T03:14:02.563" v="76"/>
        <pc:sldMkLst>
          <pc:docMk/>
          <pc:sldMk cId="1749030269" sldId="301"/>
        </pc:sldMkLst>
        <pc:spChg chg="add del mod">
          <ac:chgData name="Drisya Krishnan M" userId="895113718514acda" providerId="LiveId" clId="{338C8C4B-27C7-4508-B73F-2D95103D61F3}" dt="2026-03-31T15:01:41.497" v="43"/>
          <ac:spMkLst>
            <pc:docMk/>
            <pc:sldMk cId="1749030269" sldId="301"/>
            <ac:spMk id="3" creationId="{FCE2419A-F49B-066D-D126-C9B298B66F65}"/>
          </ac:spMkLst>
        </pc:spChg>
        <pc:spChg chg="add mod">
          <ac:chgData name="Drisya Krishnan M" userId="895113718514acda" providerId="LiveId" clId="{338C8C4B-27C7-4508-B73F-2D95103D61F3}" dt="2026-03-31T15:02:42.602" v="72" actId="207"/>
          <ac:spMkLst>
            <pc:docMk/>
            <pc:sldMk cId="1749030269" sldId="301"/>
            <ac:spMk id="12" creationId="{181631BB-C13C-9E66-E485-5FFEC15168BC}"/>
          </ac:spMkLst>
        </pc:spChg>
        <pc:picChg chg="add mod">
          <ac:chgData name="Drisya Krishnan M" userId="895113718514acda" providerId="LiveId" clId="{338C8C4B-27C7-4508-B73F-2D95103D61F3}" dt="2026-03-31T15:00:20.184" v="35" actId="14100"/>
          <ac:picMkLst>
            <pc:docMk/>
            <pc:sldMk cId="1749030269" sldId="301"/>
            <ac:picMk id="5" creationId="{8CE5A471-90D0-754A-32BB-88F1ACF6DDB0}"/>
          </ac:picMkLst>
        </pc:picChg>
        <pc:picChg chg="add mod">
          <ac:chgData name="Drisya Krishnan M" userId="895113718514acda" providerId="LiveId" clId="{338C8C4B-27C7-4508-B73F-2D95103D61F3}" dt="2026-03-31T15:00:23.212" v="36" actId="1076"/>
          <ac:picMkLst>
            <pc:docMk/>
            <pc:sldMk cId="1749030269" sldId="301"/>
            <ac:picMk id="7" creationId="{DDFDE61D-C977-F356-0C01-197D49B4091D}"/>
          </ac:picMkLst>
        </pc:picChg>
        <pc:picChg chg="add mod">
          <ac:chgData name="Drisya Krishnan M" userId="895113718514acda" providerId="LiveId" clId="{338C8C4B-27C7-4508-B73F-2D95103D61F3}" dt="2026-03-31T15:01:23.463" v="41" actId="1076"/>
          <ac:picMkLst>
            <pc:docMk/>
            <pc:sldMk cId="1749030269" sldId="301"/>
            <ac:picMk id="9" creationId="{94507EC2-AE62-B0AA-6A60-B7D5ADA4495E}"/>
          </ac:picMkLst>
        </pc:picChg>
        <pc:picChg chg="add mod">
          <ac:chgData name="Drisya Krishnan M" userId="895113718514acda" providerId="LiveId" clId="{338C8C4B-27C7-4508-B73F-2D95103D61F3}" dt="2026-03-31T15:01:59.703" v="47" actId="14100"/>
          <ac:picMkLst>
            <pc:docMk/>
            <pc:sldMk cId="1749030269" sldId="301"/>
            <ac:picMk id="11" creationId="{81FC15B3-B374-4D0C-A1AB-51CE89B709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EC0BB-AF4B-4E0E-83E0-2F389D448D08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D6B9A-CDBD-47EB-9E6B-A63BCEC5C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50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6B9A-CDBD-47EB-9E6B-A63BCEC5C56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6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AF0E-AC0F-E4BA-0ECE-39C5DD75D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9D426-E3D1-228E-9AB2-10ECCB4AE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873D-F0A8-23A2-8CE6-3213DC2A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4B20-541A-4188-8B0E-61FE70A7EA06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1BF78-DBCD-58EF-4501-A0DE0196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9D23D-E706-7ECE-7BB6-C574B581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66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81EF-6615-8152-BC23-60A3722F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EEA4-A5BE-85F1-F2F6-39D4F9994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FBA8F-6B4B-5175-5672-3B04F340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B2B60-54C5-40BC-8F21-E020DF3E037A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5C3-0BB3-0628-2320-BFA1ED95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EBFC7-9126-3570-EF1E-DA5D945D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3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A0B3-5A43-5F7B-C6B4-7729F44C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DA0F3-2DBF-22E6-BFF8-A67EDD30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5312C-C91A-0611-3BAA-78131D782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FFD2-A5D2-4630-8619-8A4367238428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8A58-02ED-C9BA-2C48-B10FD3D0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88981-822C-6D31-02EA-90E64ADF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88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8A78-CB1B-2167-E818-7436A814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E7B2-14A6-0D61-6F3B-4709EAF5C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82C99-3B06-5DD0-2EBE-E8C7D126B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3F243-4C0E-FD78-8C9B-C3E561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6D2D-7A37-41A4-BA8A-F885A18D7F01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CFC33-2D60-5BD9-2D77-0333FC8A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2A69C-7776-0100-DCC9-70F0E3844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62D9-4E82-089C-2A39-0F3F0F96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1B08D-61AF-929B-098F-9C9A07DF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B4986-F4C8-772C-9B39-C2606B8B3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FFB6D-0ED7-A026-06A5-CB0C38A8E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0BA41-67A0-0933-6196-39DFDD573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04D4EB-770E-6E66-D524-0BF300C3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807A-451A-409A-9F64-A29AE51E6479}" type="datetime1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87D7C-6194-DBA7-6786-030E9D38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0020D-215F-82AD-BA2F-30C26BE9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84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1AC3-69E2-6C23-5F8E-02C772F3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8154-AA9C-67FA-30F2-13FDEABA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DB7D9-431F-49AF-8AC1-38766EB69514}" type="datetime1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3D8F1-590F-986D-B1C8-219810BE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DDC49-1882-F468-22C8-7CD32158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32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72349-237D-DFC0-DA4B-9216D932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D325-7629-4522-B675-1E4780008F7A}" type="datetime1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B63DE-2139-64EE-4804-5A02774D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5D91-C50A-641C-443D-7DA5F300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70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462-12E6-AA1D-540A-E5B8A286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4BC8-1504-A39E-0E52-09DF7CFE0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5DC54-70B1-BB2D-E9B2-D378EBB50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3803-88EA-1B3D-4537-FD72202E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B67D9-A79F-4651-841B-6DEE1582BF60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F5781-9BF6-FB09-32E4-0A05FB6D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22CCD-3C13-FF89-0597-5A99A0D1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1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05F9-CB9D-9785-C61A-73305C89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47CC4-FE39-501E-E39E-8F0E95994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E0E57-1422-FDFB-4E4D-573574B59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B914-3696-9F89-46B9-7ED9E261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D284-BDE9-4AF2-95EC-A16CC0A26730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C2F6E-FB2C-E03C-D879-A536181F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57DF7-0AEA-C04B-ADD6-6EF381A3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5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FD78-B4C0-A86F-2534-84E45770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21068-FFA6-5544-EBE5-D8880CCD9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5D97A-F4B6-E783-37F2-856BE32F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666D-0299-4EAB-B88A-3587E34946B1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7F8AD-EF06-12BB-CB32-A1482F7E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2D355-E7DE-66C6-0A88-283504C5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69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93526-D4BE-1DFD-8CF2-9E3CBCB1B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E8CFC-A4C0-C8D5-96E5-820C07C60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A5EB6-6316-5760-C156-5502BF79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94A2-201B-4064-91F2-3626780AECDA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989E-3BA6-8997-DBB3-EBAEBBC1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77951-C9A9-5FED-3991-34A39865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9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0F26B-2094-4936-ED88-AC1A0D75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B8D01-7E0A-80FE-9596-F4CC6A9C4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3842-4A9F-94C8-DBD0-C21B16881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9B21C-A442-4042-B8A0-A00771BCFDC3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42E81-33EF-88C4-D734-1C8A9AD5E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A11CE-571E-D975-AD76-8B3039ABA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5AB23-1CAF-40BB-BA41-43A8D343B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51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344F67E2-1EC1-1CB3-412C-666619222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439" y="162560"/>
            <a:ext cx="1849121" cy="1513840"/>
          </a:xfrm>
          <a:prstGeom prst="rect">
            <a:avLst/>
          </a:prstGeom>
          <a:solidFill>
            <a:srgbClr val="DAE4FE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F255AB-79F1-8D88-5DC4-F45D31F52F9F}"/>
              </a:ext>
            </a:extLst>
          </p:cNvPr>
          <p:cNvSpPr txBox="1"/>
          <p:nvPr/>
        </p:nvSpPr>
        <p:spPr>
          <a:xfrm>
            <a:off x="751840" y="1463040"/>
            <a:ext cx="1060704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US" sz="28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REINTEGRATION OF RETURN MIGRANTS INTO KERALA’S LABOUR MARKET:</a:t>
            </a:r>
          </a:p>
          <a:p>
            <a:pPr algn="ctr"/>
            <a:r>
              <a:rPr lang="en-US" sz="28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STUDY ON THE IMPACT OF FORIGN-ACQUIRED SKILL ON THE REINTEGRATION PROCESS </a:t>
            </a:r>
            <a:endParaRPr lang="en-IN" sz="2800" dirty="0">
              <a:solidFill>
                <a:srgbClr val="021F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48E9B-011F-CA68-4DC0-06A8FEC84334}"/>
              </a:ext>
            </a:extLst>
          </p:cNvPr>
          <p:cNvSpPr txBox="1"/>
          <p:nvPr/>
        </p:nvSpPr>
        <p:spPr>
          <a:xfrm>
            <a:off x="919480" y="3555921"/>
            <a:ext cx="10271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E00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THESIS PRESENTATION</a:t>
            </a:r>
            <a:endParaRPr lang="en-IN" sz="2400" b="1" dirty="0">
              <a:solidFill>
                <a:srgbClr val="3E00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06D78-0752-0C19-6B0E-B88AC34E26DD}"/>
              </a:ext>
            </a:extLst>
          </p:cNvPr>
          <p:cNvSpPr txBox="1"/>
          <p:nvPr/>
        </p:nvSpPr>
        <p:spPr>
          <a:xfrm>
            <a:off x="944880" y="4429760"/>
            <a:ext cx="105257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DRISYA KRISHNAN M</a:t>
            </a:r>
          </a:p>
          <a:p>
            <a:pPr algn="ctr"/>
            <a:r>
              <a:rPr lang="en-US" sz="20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242ECO05</a:t>
            </a:r>
          </a:p>
          <a:p>
            <a:pPr algn="ctr"/>
            <a:endParaRPr lang="en-IN" sz="2000" b="1" dirty="0">
              <a:solidFill>
                <a:srgbClr val="021F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 the Guidance of </a:t>
            </a:r>
          </a:p>
          <a:p>
            <a:pPr algn="ctr"/>
            <a:r>
              <a:rPr lang="en-IN" sz="2000" b="1" dirty="0">
                <a:solidFill>
                  <a:srgbClr val="021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Nikhil Jha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325CD7-DE45-3F7F-C21B-B8C990027F63}"/>
              </a:ext>
            </a:extLst>
          </p:cNvPr>
          <p:cNvCxnSpPr/>
          <p:nvPr/>
        </p:nvCxnSpPr>
        <p:spPr>
          <a:xfrm>
            <a:off x="5019040" y="4124960"/>
            <a:ext cx="2133600" cy="0"/>
          </a:xfrm>
          <a:prstGeom prst="line">
            <a:avLst/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786638-D111-865E-8873-AFA4376C3256}"/>
              </a:ext>
            </a:extLst>
          </p:cNvPr>
          <p:cNvCxnSpPr/>
          <p:nvPr/>
        </p:nvCxnSpPr>
        <p:spPr>
          <a:xfrm>
            <a:off x="1239520" y="6410960"/>
            <a:ext cx="9951720" cy="0"/>
          </a:xfrm>
          <a:prstGeom prst="line">
            <a:avLst/>
          </a:prstGeom>
          <a:ln w="63500">
            <a:solidFill>
              <a:srgbClr val="021F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71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883DDB-F0A4-6587-001E-2C4726B2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E39A9-8764-920A-AF3F-F782944B92A3}"/>
              </a:ext>
            </a:extLst>
          </p:cNvPr>
          <p:cNvSpPr txBox="1"/>
          <p:nvPr/>
        </p:nvSpPr>
        <p:spPr>
          <a:xfrm>
            <a:off x="2721685" y="430306"/>
            <a:ext cx="6476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47FCC7-1976-E284-EAD4-A3B5F82B3E70}"/>
              </a:ext>
            </a:extLst>
          </p:cNvPr>
          <p:cNvCxnSpPr>
            <a:cxnSpLocks/>
          </p:cNvCxnSpPr>
          <p:nvPr/>
        </p:nvCxnSpPr>
        <p:spPr>
          <a:xfrm>
            <a:off x="2721685" y="1151068"/>
            <a:ext cx="0" cy="5054675"/>
          </a:xfrm>
          <a:prstGeom prst="line">
            <a:avLst/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BC97C9-E23C-A51C-736A-BF4EA80F61DB}"/>
              </a:ext>
            </a:extLst>
          </p:cNvPr>
          <p:cNvCxnSpPr/>
          <p:nvPr/>
        </p:nvCxnSpPr>
        <p:spPr>
          <a:xfrm>
            <a:off x="2721685" y="1151068"/>
            <a:ext cx="6841863" cy="0"/>
          </a:xfrm>
          <a:prstGeom prst="line">
            <a:avLst/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DED75F-CC8F-9C5E-4C4F-3BE5135A07CE}"/>
              </a:ext>
            </a:extLst>
          </p:cNvPr>
          <p:cNvSpPr txBox="1"/>
          <p:nvPr/>
        </p:nvSpPr>
        <p:spPr>
          <a:xfrm>
            <a:off x="3022899" y="1287056"/>
            <a:ext cx="392654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frameworks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and methodology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in dataset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analysis result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discussion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recommendations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Appendices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42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2DB316-D32F-9891-9974-0DE13DA2F78A}"/>
              </a:ext>
            </a:extLst>
          </p:cNvPr>
          <p:cNvSpPr/>
          <p:nvPr/>
        </p:nvSpPr>
        <p:spPr>
          <a:xfrm>
            <a:off x="442345" y="1120140"/>
            <a:ext cx="3210560" cy="165608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E9053-391B-1366-4A38-7A9021160419}"/>
              </a:ext>
            </a:extLst>
          </p:cNvPr>
          <p:cNvSpPr/>
          <p:nvPr/>
        </p:nvSpPr>
        <p:spPr>
          <a:xfrm>
            <a:off x="4399281" y="1120140"/>
            <a:ext cx="3515360" cy="165608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189B5-7961-5BC6-E0DE-E1520D7272D7}"/>
              </a:ext>
            </a:extLst>
          </p:cNvPr>
          <p:cNvSpPr/>
          <p:nvPr/>
        </p:nvSpPr>
        <p:spPr>
          <a:xfrm>
            <a:off x="8442960" y="1120140"/>
            <a:ext cx="3210560" cy="165608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33D87-AB97-70A5-8DCA-28667B018A63}"/>
              </a:ext>
            </a:extLst>
          </p:cNvPr>
          <p:cNvSpPr txBox="1"/>
          <p:nvPr/>
        </p:nvSpPr>
        <p:spPr>
          <a:xfrm>
            <a:off x="422025" y="921325"/>
            <a:ext cx="311912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jobs &amp; living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 &amp; household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E3682-4DE1-FD8E-5F85-757C1479DED6}"/>
              </a:ext>
            </a:extLst>
          </p:cNvPr>
          <p:cNvSpPr txBox="1"/>
          <p:nvPr/>
        </p:nvSpPr>
        <p:spPr>
          <a:xfrm>
            <a:off x="4490720" y="1120139"/>
            <a:ext cx="3210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of skills &amp;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“Brain gain” effect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49784-0E7B-03E9-E027-BB69459CC4E3}"/>
              </a:ext>
            </a:extLst>
          </p:cNvPr>
          <p:cNvSpPr txBox="1"/>
          <p:nvPr/>
        </p:nvSpPr>
        <p:spPr>
          <a:xfrm>
            <a:off x="8596515" y="1120139"/>
            <a:ext cx="3007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mismatch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Reintegration issues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87715-B28F-C660-6D07-287D6D250A51}"/>
              </a:ext>
            </a:extLst>
          </p:cNvPr>
          <p:cNvSpPr/>
          <p:nvPr/>
        </p:nvSpPr>
        <p:spPr>
          <a:xfrm>
            <a:off x="3355340" y="2987040"/>
            <a:ext cx="5481320" cy="165608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D89CE-2B49-3FEC-C5E0-3D8BA7EF66D4}"/>
              </a:ext>
            </a:extLst>
          </p:cNvPr>
          <p:cNvSpPr txBox="1"/>
          <p:nvPr/>
        </p:nvSpPr>
        <p:spPr>
          <a:xfrm>
            <a:off x="3606800" y="3153360"/>
            <a:ext cx="5379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Kerala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1.8+ million return migrants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dependence on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Reintegration remains uneven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40480-8A8D-57C1-7080-7CCA3FA7A991}"/>
              </a:ext>
            </a:extLst>
          </p:cNvPr>
          <p:cNvSpPr txBox="1"/>
          <p:nvPr/>
        </p:nvSpPr>
        <p:spPr>
          <a:xfrm>
            <a:off x="1424940" y="4809440"/>
            <a:ext cx="1036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RESEARCH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foreign-acquired skills improve employment, wages, and entrepreneurship among return migrants in Kerala?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effective are institutional support programs in facilitating reintegration?</a:t>
            </a:r>
          </a:p>
          <a:p>
            <a:endParaRPr lang="en-IN" dirty="0"/>
          </a:p>
        </p:txBody>
      </p:sp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242DE6B4-87E3-7EC1-692D-400B67521F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060" y="4947920"/>
            <a:ext cx="619760" cy="318720"/>
          </a:xfrm>
          <a:prstGeom prst="rect">
            <a:avLst/>
          </a:prstGeom>
        </p:spPr>
      </p:pic>
      <p:pic>
        <p:nvPicPr>
          <p:cNvPr id="17" name="Graphic 16" descr="Airplane with solid fill">
            <a:extLst>
              <a:ext uri="{FF2B5EF4-FFF2-40B4-BE49-F238E27FC236}">
                <a16:creationId xmlns:a16="http://schemas.microsoft.com/office/drawing/2014/main" id="{7D18B6E5-68F2-E130-BA27-EE9E4E67F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63612" y="1039395"/>
            <a:ext cx="457736" cy="508000"/>
          </a:xfrm>
          <a:prstGeom prst="rect">
            <a:avLst/>
          </a:prstGeom>
        </p:spPr>
      </p:pic>
      <p:pic>
        <p:nvPicPr>
          <p:cNvPr id="21" name="Graphic 20" descr="Home with solid fill">
            <a:extLst>
              <a:ext uri="{FF2B5EF4-FFF2-40B4-BE49-F238E27FC236}">
                <a16:creationId xmlns:a16="http://schemas.microsoft.com/office/drawing/2014/main" id="{AB0B4806-E816-0D20-1389-041399063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792" y="1138188"/>
            <a:ext cx="528320" cy="381536"/>
          </a:xfrm>
          <a:prstGeom prst="rect">
            <a:avLst/>
          </a:prstGeom>
        </p:spPr>
      </p:pic>
      <p:pic>
        <p:nvPicPr>
          <p:cNvPr id="22" name="Graphic 21" descr="Warning with solid fill">
            <a:extLst>
              <a:ext uri="{FF2B5EF4-FFF2-40B4-BE49-F238E27FC236}">
                <a16:creationId xmlns:a16="http://schemas.microsoft.com/office/drawing/2014/main" id="{959B2CD4-9651-DE3A-BA7A-62B89C3A4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6515" y="1158806"/>
            <a:ext cx="415790" cy="3402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C9E2CA1-7102-F232-15AC-F27FF53B18E2}"/>
              </a:ext>
            </a:extLst>
          </p:cNvPr>
          <p:cNvSpPr txBox="1"/>
          <p:nvPr/>
        </p:nvSpPr>
        <p:spPr>
          <a:xfrm>
            <a:off x="2280920" y="146675"/>
            <a:ext cx="763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56FFAD-C6D9-49EF-28EE-9DEDF97F2CD3}"/>
              </a:ext>
            </a:extLst>
          </p:cNvPr>
          <p:cNvCxnSpPr>
            <a:cxnSpLocks/>
          </p:cNvCxnSpPr>
          <p:nvPr/>
        </p:nvCxnSpPr>
        <p:spPr>
          <a:xfrm>
            <a:off x="1976120" y="710505"/>
            <a:ext cx="8234680" cy="20945"/>
          </a:xfrm>
          <a:prstGeom prst="line">
            <a:avLst/>
          </a:prstGeom>
          <a:ln w="4762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EB0706A-7768-A854-0C1A-C0562E14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1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CD69284-82CE-C834-35CB-89503997E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59" y="1200024"/>
            <a:ext cx="10654681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Foreign-acquired skills lead to higher wages and improved productivity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Migration experience increases the likelihood of entrepreneurship and self-employment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migrants contribute to human capital formation and economic development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face skill mismatch and underemployment in domestic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institutional support and policy gaps affect effective reintegration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D60AB-E86C-1960-F9D2-70C5AE150D36}"/>
              </a:ext>
            </a:extLst>
          </p:cNvPr>
          <p:cNvSpPr txBox="1"/>
          <p:nvPr/>
        </p:nvSpPr>
        <p:spPr>
          <a:xfrm>
            <a:off x="1889759" y="477520"/>
            <a:ext cx="841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373EAD-058F-D05E-1E5F-9C18CC7D0B2A}"/>
              </a:ext>
            </a:extLst>
          </p:cNvPr>
          <p:cNvCxnSpPr>
            <a:cxnSpLocks/>
          </p:cNvCxnSpPr>
          <p:nvPr/>
        </p:nvCxnSpPr>
        <p:spPr>
          <a:xfrm>
            <a:off x="2032000" y="1078110"/>
            <a:ext cx="8412480" cy="0"/>
          </a:xfrm>
          <a:prstGeom prst="line">
            <a:avLst/>
          </a:prstGeom>
          <a:ln w="4762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2A17AF-557B-0138-CBDB-10CC0730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6C962-33AF-4497-6A2D-712D17695A43}"/>
              </a:ext>
            </a:extLst>
          </p:cNvPr>
          <p:cNvSpPr txBox="1"/>
          <p:nvPr/>
        </p:nvSpPr>
        <p:spPr>
          <a:xfrm>
            <a:off x="975360" y="622955"/>
            <a:ext cx="465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STUDIES</a:t>
            </a:r>
            <a:endParaRPr lang="en-IN" sz="24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3C881-1365-9785-1763-C60C76445969}"/>
              </a:ext>
            </a:extLst>
          </p:cNvPr>
          <p:cNvSpPr txBox="1"/>
          <p:nvPr/>
        </p:nvSpPr>
        <p:spPr>
          <a:xfrm>
            <a:off x="975360" y="1158240"/>
            <a:ext cx="107696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/>
              <a:t>📊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skill and wages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Dustmann, C., &amp; Frattini, T. (2011):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migrants earn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wages with foreign experience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Borjas, G. J. (1994)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driven by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 differentials &amp; skill returns 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💼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McCormick, B., &amp; Wahba, J. (2001)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experience increases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self-employment likelihood 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🌍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Capital &amp; Development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Lucas (2005):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contributes to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capital &amp; economic growth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Kerala Studies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Zachariah, K. C., &amp; Rajan, S. I. (2012)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Migration improves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&amp; living standards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Rajan, S. I., &amp; Pattath, K. C. (2022): 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migrants face </a:t>
            </a:r>
            <a:r>
              <a:rPr lang="en-IN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reintegration challenges </a:t>
            </a:r>
          </a:p>
          <a:p>
            <a:endParaRPr lang="en-IN" dirty="0"/>
          </a:p>
        </p:txBody>
      </p:sp>
      <p:pic>
        <p:nvPicPr>
          <p:cNvPr id="6" name="Graphic 5" descr="Earth Globe - Asia with solid fill">
            <a:extLst>
              <a:ext uri="{FF2B5EF4-FFF2-40B4-BE49-F238E27FC236}">
                <a16:creationId xmlns:a16="http://schemas.microsoft.com/office/drawing/2014/main" id="{077C6C1D-EB43-9B93-0DAE-C1030C6843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360" y="4551679"/>
            <a:ext cx="434914" cy="30988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8A449-8183-BCE9-4A96-D5A251C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3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5E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F10EF-A12D-F700-B991-67B3B1E185F9}"/>
              </a:ext>
            </a:extLst>
          </p:cNvPr>
          <p:cNvSpPr txBox="1"/>
          <p:nvPr/>
        </p:nvSpPr>
        <p:spPr>
          <a:xfrm>
            <a:off x="1922206" y="360622"/>
            <a:ext cx="8347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72395-0F1A-C5FB-8AC4-4C9C03FCCF45}"/>
              </a:ext>
            </a:extLst>
          </p:cNvPr>
          <p:cNvSpPr txBox="1"/>
          <p:nvPr/>
        </p:nvSpPr>
        <p:spPr>
          <a:xfrm>
            <a:off x="2359849" y="1519625"/>
            <a:ext cx="81017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skill impact</a:t>
            </a:r>
          </a:p>
          <a:p>
            <a:pPr lvl="3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studies assess impact of foreign acquired skills</a:t>
            </a:r>
          </a:p>
          <a:p>
            <a:pPr lvl="2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Kerala context gap</a:t>
            </a:r>
          </a:p>
          <a:p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Focus on remittances; reintegration under explored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quantitative evidences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analysis of [program accessibility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comprehensive approach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Rare integration of employment, wage and entrepreneurship.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Graphic 5" descr="Research with solid fill">
            <a:extLst>
              <a:ext uri="{FF2B5EF4-FFF2-40B4-BE49-F238E27FC236}">
                <a16:creationId xmlns:a16="http://schemas.microsoft.com/office/drawing/2014/main" id="{ADA1AB5B-D4CA-45D0-CC8D-B6DFA39E9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2492088" y="1688612"/>
            <a:ext cx="678425" cy="5408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FCCB41-33F4-BFD6-E79A-391CD45FB9D5}"/>
              </a:ext>
            </a:extLst>
          </p:cNvPr>
          <p:cNvCxnSpPr>
            <a:cxnSpLocks/>
          </p:cNvCxnSpPr>
          <p:nvPr/>
        </p:nvCxnSpPr>
        <p:spPr>
          <a:xfrm>
            <a:off x="3408585" y="1959051"/>
            <a:ext cx="3113913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DDFF42-7003-41DA-84DF-85E466A6DBD5}"/>
              </a:ext>
            </a:extLst>
          </p:cNvPr>
          <p:cNvCxnSpPr>
            <a:cxnSpLocks/>
          </p:cNvCxnSpPr>
          <p:nvPr/>
        </p:nvCxnSpPr>
        <p:spPr>
          <a:xfrm>
            <a:off x="3487460" y="3201468"/>
            <a:ext cx="2009100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A3B618-C93D-A006-F2AB-373B2B7919C7}"/>
              </a:ext>
            </a:extLst>
          </p:cNvPr>
          <p:cNvCxnSpPr>
            <a:cxnSpLocks/>
          </p:cNvCxnSpPr>
          <p:nvPr/>
        </p:nvCxnSpPr>
        <p:spPr>
          <a:xfrm>
            <a:off x="3490248" y="4418706"/>
            <a:ext cx="3316952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55B97C-C1E9-F1B8-E294-796B7C742041}"/>
              </a:ext>
            </a:extLst>
          </p:cNvPr>
          <p:cNvCxnSpPr>
            <a:cxnSpLocks/>
          </p:cNvCxnSpPr>
          <p:nvPr/>
        </p:nvCxnSpPr>
        <p:spPr>
          <a:xfrm>
            <a:off x="3565869" y="5666319"/>
            <a:ext cx="3566451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arth Globe - Asia with solid fill">
            <a:extLst>
              <a:ext uri="{FF2B5EF4-FFF2-40B4-BE49-F238E27FC236}">
                <a16:creationId xmlns:a16="http://schemas.microsoft.com/office/drawing/2014/main" id="{2892B5E9-EABA-0B01-6BBE-B58B01037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1806" y="2972456"/>
            <a:ext cx="624348" cy="606287"/>
          </a:xfrm>
          <a:prstGeom prst="rect">
            <a:avLst/>
          </a:prstGeom>
        </p:spPr>
      </p:pic>
      <p:pic>
        <p:nvPicPr>
          <p:cNvPr id="21" name="Graphic 20" descr="Bar chart with solid fill">
            <a:extLst>
              <a:ext uri="{FF2B5EF4-FFF2-40B4-BE49-F238E27FC236}">
                <a16:creationId xmlns:a16="http://schemas.microsoft.com/office/drawing/2014/main" id="{11952A0D-B529-87CE-F050-565E4E9E4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7159" y="3947865"/>
            <a:ext cx="688284" cy="596242"/>
          </a:xfrm>
          <a:prstGeom prst="rect">
            <a:avLst/>
          </a:prstGeom>
        </p:spPr>
      </p:pic>
      <p:pic>
        <p:nvPicPr>
          <p:cNvPr id="23" name="Graphic 22" descr="Upward trend with solid fill">
            <a:extLst>
              <a:ext uri="{FF2B5EF4-FFF2-40B4-BE49-F238E27FC236}">
                <a16:creationId xmlns:a16="http://schemas.microsoft.com/office/drawing/2014/main" id="{E1407516-A1A4-6AF9-AEF2-5DB5D1186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9838" y="5070078"/>
            <a:ext cx="688284" cy="59624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FFD803-2E7D-4C34-1B0F-6732F36AA1A4}"/>
              </a:ext>
            </a:extLst>
          </p:cNvPr>
          <p:cNvCxnSpPr/>
          <p:nvPr/>
        </p:nvCxnSpPr>
        <p:spPr>
          <a:xfrm>
            <a:off x="665922" y="1055975"/>
            <a:ext cx="10674626" cy="0"/>
          </a:xfrm>
          <a:prstGeom prst="line">
            <a:avLst/>
          </a:prstGeom>
          <a:ln w="4762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73743F-A1EE-7D94-4413-7A98407D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077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5E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F3BBE3-C55A-0134-0195-16ED52A5A3EF}"/>
              </a:ext>
            </a:extLst>
          </p:cNvPr>
          <p:cNvSpPr txBox="1"/>
          <p:nvPr/>
        </p:nvSpPr>
        <p:spPr>
          <a:xfrm>
            <a:off x="3441123" y="245360"/>
            <a:ext cx="5309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010D29-EB81-8108-489E-6BE2111EAC3F}"/>
              </a:ext>
            </a:extLst>
          </p:cNvPr>
          <p:cNvCxnSpPr/>
          <p:nvPr/>
        </p:nvCxnSpPr>
        <p:spPr>
          <a:xfrm>
            <a:off x="1077191" y="853803"/>
            <a:ext cx="10037618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8926EE-76DD-6837-8CC6-EF14947E7EB7}"/>
              </a:ext>
            </a:extLst>
          </p:cNvPr>
          <p:cNvSpPr txBox="1"/>
          <p:nvPr/>
        </p:nvSpPr>
        <p:spPr>
          <a:xfrm>
            <a:off x="2511136" y="1231627"/>
            <a:ext cx="8312727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foreign acquired skills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effects on employability, entrepreneurship, and wages of return migrants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utilization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utilization among return migrants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Government Support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effectiveness of support programs in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market reintegration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policy recommendations to improve reintegration strategies 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8F1A3E69-0CBA-1D71-4526-3BF807B38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5456" y="1627892"/>
            <a:ext cx="914400" cy="914400"/>
          </a:xfrm>
          <a:prstGeom prst="rect">
            <a:avLst/>
          </a:prstGeom>
        </p:spPr>
      </p:pic>
      <p:pic>
        <p:nvPicPr>
          <p:cNvPr id="12" name="Graphic 11" descr="Scales of justice with solid fill">
            <a:extLst>
              <a:ext uri="{FF2B5EF4-FFF2-40B4-BE49-F238E27FC236}">
                <a16:creationId xmlns:a16="http://schemas.microsoft.com/office/drawing/2014/main" id="{4E5A48C3-B19B-F4D8-A511-66BE4AFAF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8137" y="3316380"/>
            <a:ext cx="914400" cy="914400"/>
          </a:xfrm>
          <a:prstGeom prst="rect">
            <a:avLst/>
          </a:prstGeom>
        </p:spPr>
      </p:pic>
      <p:pic>
        <p:nvPicPr>
          <p:cNvPr id="14" name="Graphic 13" descr="Bank with solid fill">
            <a:extLst>
              <a:ext uri="{FF2B5EF4-FFF2-40B4-BE49-F238E27FC236}">
                <a16:creationId xmlns:a16="http://schemas.microsoft.com/office/drawing/2014/main" id="{0E131C12-0F10-D4C1-F0F7-CB328208E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5456" y="4658608"/>
            <a:ext cx="914400" cy="91440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A4C8D9A-E865-CD39-E233-C2887EFA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22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B57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97F9A-238B-F6CA-1E3A-8EACACB2B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1"/>
          <a:stretch>
            <a:fillRect/>
          </a:stretch>
        </p:blipFill>
        <p:spPr>
          <a:xfrm>
            <a:off x="1185025" y="827348"/>
            <a:ext cx="9821949" cy="5664890"/>
          </a:xfrm>
          <a:prstGeom prst="rect">
            <a:avLst/>
          </a:prstGeom>
          <a:solidFill>
            <a:srgbClr val="00226D">
              <a:alpha val="86000"/>
            </a:srgb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880F8-374B-1D45-6CA0-0E67DA34DBA1}"/>
              </a:ext>
            </a:extLst>
          </p:cNvPr>
          <p:cNvSpPr txBox="1"/>
          <p:nvPr/>
        </p:nvSpPr>
        <p:spPr>
          <a:xfrm>
            <a:off x="3425537" y="132198"/>
            <a:ext cx="534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4AF37"/>
                </a:solidFill>
              </a:rPr>
              <a:t>THEORETICAL FRAMEWORKS</a:t>
            </a:r>
            <a:endParaRPr lang="en-IN" sz="3200" b="1" dirty="0">
              <a:solidFill>
                <a:srgbClr val="D4AF37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4E79D9-695B-63EA-0FCA-DE15A94643EC}"/>
              </a:ext>
            </a:extLst>
          </p:cNvPr>
          <p:cNvCxnSpPr>
            <a:cxnSpLocks/>
          </p:cNvCxnSpPr>
          <p:nvPr/>
        </p:nvCxnSpPr>
        <p:spPr>
          <a:xfrm>
            <a:off x="1496291" y="654628"/>
            <a:ext cx="8593282" cy="0"/>
          </a:xfrm>
          <a:prstGeom prst="line">
            <a:avLst/>
          </a:prstGeom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75A381D-0935-0D8D-D527-5B9D741B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14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5E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81BECC-1A8D-2855-4A6E-6EDB2E5FACEE}"/>
              </a:ext>
            </a:extLst>
          </p:cNvPr>
          <p:cNvSpPr/>
          <p:nvPr/>
        </p:nvSpPr>
        <p:spPr>
          <a:xfrm>
            <a:off x="1358318" y="1497374"/>
            <a:ext cx="2520000" cy="1826172"/>
          </a:xfrm>
          <a:prstGeom prst="rect">
            <a:avLst/>
          </a:prstGeom>
          <a:solidFill>
            <a:srgbClr val="021D5E">
              <a:alpha val="31000"/>
            </a:srgbClr>
          </a:solidFill>
          <a:ln>
            <a:solidFill>
              <a:srgbClr val="021D5E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4AD59-2104-6AF3-8571-3B360054FE53}"/>
              </a:ext>
            </a:extLst>
          </p:cNvPr>
          <p:cNvSpPr/>
          <p:nvPr/>
        </p:nvSpPr>
        <p:spPr>
          <a:xfrm>
            <a:off x="4804469" y="1505607"/>
            <a:ext cx="2520000" cy="1826172"/>
          </a:xfrm>
          <a:prstGeom prst="rect">
            <a:avLst/>
          </a:prstGeom>
          <a:solidFill>
            <a:srgbClr val="021D5E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5E09F-E2FB-B089-A3EE-6B410A7265F9}"/>
              </a:ext>
            </a:extLst>
          </p:cNvPr>
          <p:cNvSpPr/>
          <p:nvPr/>
        </p:nvSpPr>
        <p:spPr>
          <a:xfrm>
            <a:off x="8313682" y="1505607"/>
            <a:ext cx="2520000" cy="1826172"/>
          </a:xfrm>
          <a:prstGeom prst="rect">
            <a:avLst/>
          </a:prstGeom>
          <a:solidFill>
            <a:srgbClr val="021D5E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1B2E5-BEEB-2766-1651-9221F349B5E2}"/>
              </a:ext>
            </a:extLst>
          </p:cNvPr>
          <p:cNvSpPr txBox="1"/>
          <p:nvPr/>
        </p:nvSpPr>
        <p:spPr>
          <a:xfrm>
            <a:off x="1259967" y="1497374"/>
            <a:ext cx="291340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📊</a:t>
            </a:r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survey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Return migrants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CCA07-9CA6-4157-A621-9EAEFEDC09EF}"/>
              </a:ext>
            </a:extLst>
          </p:cNvPr>
          <p:cNvSpPr txBox="1"/>
          <p:nvPr/>
        </p:nvSpPr>
        <p:spPr>
          <a:xfrm>
            <a:off x="4867531" y="1540918"/>
            <a:ext cx="2520000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      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300 respondents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5AF6B-3F2D-39F3-EB36-2FFA1D69E8FF}"/>
              </a:ext>
            </a:extLst>
          </p:cNvPr>
          <p:cNvSpPr txBox="1"/>
          <p:nvPr/>
        </p:nvSpPr>
        <p:spPr>
          <a:xfrm>
            <a:off x="8376745" y="1540918"/>
            <a:ext cx="2456938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     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Area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Kerala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10EB5E-6BFA-B684-77B8-7CF92AF0D118}"/>
              </a:ext>
            </a:extLst>
          </p:cNvPr>
          <p:cNvSpPr/>
          <p:nvPr/>
        </p:nvSpPr>
        <p:spPr>
          <a:xfrm>
            <a:off x="1987614" y="4337482"/>
            <a:ext cx="8469020" cy="1696377"/>
          </a:xfrm>
          <a:prstGeom prst="rect">
            <a:avLst/>
          </a:prstGeom>
          <a:solidFill>
            <a:srgbClr val="021D5E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CB725-FC77-8676-449A-C0E149723F00}"/>
              </a:ext>
            </a:extLst>
          </p:cNvPr>
          <p:cNvSpPr txBox="1"/>
          <p:nvPr/>
        </p:nvSpPr>
        <p:spPr>
          <a:xfrm>
            <a:off x="2354317" y="4388731"/>
            <a:ext cx="7735614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⚙️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Logit model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Formal employment, Entrepreneurship    Odd ratios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2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OLS model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Wage, Skill utilization</a:t>
            </a:r>
          </a:p>
        </p:txBody>
      </p:sp>
      <p:pic>
        <p:nvPicPr>
          <p:cNvPr id="21" name="Graphic 20" descr="Users with solid fill">
            <a:extLst>
              <a:ext uri="{FF2B5EF4-FFF2-40B4-BE49-F238E27FC236}">
                <a16:creationId xmlns:a16="http://schemas.microsoft.com/office/drawing/2014/main" id="{1EFF462B-5D9F-1FE1-7953-235BE0887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0922" y="1670974"/>
            <a:ext cx="544358" cy="594705"/>
          </a:xfrm>
          <a:prstGeom prst="rect">
            <a:avLst/>
          </a:prstGeom>
        </p:spPr>
      </p:pic>
      <p:pic>
        <p:nvPicPr>
          <p:cNvPr id="25" name="Graphic 24" descr="Open book with solid fill">
            <a:extLst>
              <a:ext uri="{FF2B5EF4-FFF2-40B4-BE49-F238E27FC236}">
                <a16:creationId xmlns:a16="http://schemas.microsoft.com/office/drawing/2014/main" id="{4B36D34C-722F-231B-BFC9-904FBDB68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1329" y="1604588"/>
            <a:ext cx="477520" cy="6605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ABB9A46-E69E-ADAD-A2D6-E5A1FA064995}"/>
              </a:ext>
            </a:extLst>
          </p:cNvPr>
          <p:cNvSpPr txBox="1"/>
          <p:nvPr/>
        </p:nvSpPr>
        <p:spPr>
          <a:xfrm>
            <a:off x="3657123" y="243975"/>
            <a:ext cx="591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AND METHODOLOGY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EB7CC1-4E1F-1699-EF9E-2B7CE8B86BAE}"/>
              </a:ext>
            </a:extLst>
          </p:cNvPr>
          <p:cNvCxnSpPr/>
          <p:nvPr/>
        </p:nvCxnSpPr>
        <p:spPr>
          <a:xfrm>
            <a:off x="1132330" y="934720"/>
            <a:ext cx="9990402" cy="0"/>
          </a:xfrm>
          <a:prstGeom prst="line">
            <a:avLst/>
          </a:prstGeom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13AE56C-9A38-17EE-B55B-83F2BED9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14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6B04F4-ACE5-D01B-928D-30A4E706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5A471-90D0-754A-32BB-88F1ACF6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7" y="1247887"/>
            <a:ext cx="7143076" cy="1019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FDE61D-C977-F356-0C01-197D49B4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17" y="2643525"/>
            <a:ext cx="7143076" cy="1019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507EC2-AE62-B0AA-6A60-B7D5ADA44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617" y="4039163"/>
            <a:ext cx="7143076" cy="1019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C15B3-B374-4D0C-A1AB-51CE89B70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617" y="5377200"/>
            <a:ext cx="7143076" cy="10196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1631BB-C13C-9E66-E485-5FFEC15168BC}"/>
              </a:ext>
            </a:extLst>
          </p:cNvPr>
          <p:cNvSpPr txBox="1"/>
          <p:nvPr/>
        </p:nvSpPr>
        <p:spPr>
          <a:xfrm>
            <a:off x="1570617" y="225911"/>
            <a:ext cx="6411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ECONOMETRIC MODELS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030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EDCF50-F9F0-BE86-B905-8B28CC3E408D}"/>
              </a:ext>
            </a:extLst>
          </p:cNvPr>
          <p:cNvSpPr/>
          <p:nvPr/>
        </p:nvSpPr>
        <p:spPr>
          <a:xfrm>
            <a:off x="1127760" y="1686559"/>
            <a:ext cx="2885440" cy="4114799"/>
          </a:xfrm>
          <a:prstGeom prst="round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8ACA08-55B7-B88D-8D20-D6BEBB74142F}"/>
              </a:ext>
            </a:extLst>
          </p:cNvPr>
          <p:cNvSpPr/>
          <p:nvPr/>
        </p:nvSpPr>
        <p:spPr>
          <a:xfrm>
            <a:off x="4714240" y="1686560"/>
            <a:ext cx="2885440" cy="4114800"/>
          </a:xfrm>
          <a:prstGeom prst="round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09EBE6-91D8-B268-7296-812ECFBBDB39}"/>
              </a:ext>
            </a:extLst>
          </p:cNvPr>
          <p:cNvSpPr/>
          <p:nvPr/>
        </p:nvSpPr>
        <p:spPr>
          <a:xfrm>
            <a:off x="8300720" y="1686560"/>
            <a:ext cx="2885440" cy="4114798"/>
          </a:xfrm>
          <a:prstGeom prst="round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9FD3C-6FD9-70BB-283C-FEE2A1749485}"/>
              </a:ext>
            </a:extLst>
          </p:cNvPr>
          <p:cNvSpPr txBox="1"/>
          <p:nvPr/>
        </p:nvSpPr>
        <p:spPr>
          <a:xfrm>
            <a:off x="1320800" y="1828800"/>
            <a:ext cx="2357120" cy="309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DEPENDENT VARIABLES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Formal employment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Entrepreneurship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Skill utilization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12607-ACFB-817B-72FB-4000F215A39A}"/>
              </a:ext>
            </a:extLst>
          </p:cNvPr>
          <p:cNvSpPr txBox="1"/>
          <p:nvPr/>
        </p:nvSpPr>
        <p:spPr>
          <a:xfrm>
            <a:off x="4927600" y="1828800"/>
            <a:ext cx="2590800" cy="387798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EXPLANATORY VARIABLES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Skill index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Years of experience abroad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Government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Education</a:t>
            </a:r>
          </a:p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4063F-29E6-11F1-2753-A7F27B426584}"/>
              </a:ext>
            </a:extLst>
          </p:cNvPr>
          <p:cNvSpPr txBox="1"/>
          <p:nvPr/>
        </p:nvSpPr>
        <p:spPr>
          <a:xfrm>
            <a:off x="8514080" y="1828800"/>
            <a:ext cx="2357120" cy="2168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CONTROL VARIABLES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Gender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Marital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82150-35C2-E3F0-4EF0-63D9DB743611}"/>
              </a:ext>
            </a:extLst>
          </p:cNvPr>
          <p:cNvSpPr txBox="1"/>
          <p:nvPr/>
        </p:nvSpPr>
        <p:spPr>
          <a:xfrm>
            <a:off x="5069843" y="305616"/>
            <a:ext cx="2350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en-IN" sz="28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A8D3C0-3346-609F-3FEA-E12AC07291F0}"/>
              </a:ext>
            </a:extLst>
          </p:cNvPr>
          <p:cNvCxnSpPr/>
          <p:nvPr/>
        </p:nvCxnSpPr>
        <p:spPr>
          <a:xfrm>
            <a:off x="6223000" y="1004670"/>
            <a:ext cx="0" cy="284480"/>
          </a:xfrm>
          <a:prstGeom prst="line">
            <a:avLst/>
          </a:prstGeom>
          <a:ln w="444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2DFEA9-9E08-C13B-DE7C-E7B5AFF984CE}"/>
              </a:ext>
            </a:extLst>
          </p:cNvPr>
          <p:cNvCxnSpPr>
            <a:cxnSpLocks/>
          </p:cNvCxnSpPr>
          <p:nvPr/>
        </p:nvCxnSpPr>
        <p:spPr>
          <a:xfrm>
            <a:off x="2570480" y="1289150"/>
            <a:ext cx="7172960" cy="0"/>
          </a:xfrm>
          <a:prstGeom prst="line">
            <a:avLst/>
          </a:prstGeom>
          <a:ln w="444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E643F8-66B7-6DE9-D0E4-0033E4B87AF6}"/>
              </a:ext>
            </a:extLst>
          </p:cNvPr>
          <p:cNvCxnSpPr>
            <a:cxnSpLocks/>
          </p:cNvCxnSpPr>
          <p:nvPr/>
        </p:nvCxnSpPr>
        <p:spPr>
          <a:xfrm>
            <a:off x="6223000" y="1299310"/>
            <a:ext cx="0" cy="387249"/>
          </a:xfrm>
          <a:prstGeom prst="line">
            <a:avLst/>
          </a:prstGeom>
          <a:ln w="444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D881CA-924B-4D1D-B0D1-9E3C8C78FF1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70480" y="1299310"/>
            <a:ext cx="0" cy="387249"/>
          </a:xfrm>
          <a:prstGeom prst="line">
            <a:avLst/>
          </a:prstGeom>
          <a:ln w="444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32CECF-D952-314F-9591-3A60C22A9C49}"/>
              </a:ext>
            </a:extLst>
          </p:cNvPr>
          <p:cNvCxnSpPr>
            <a:cxnSpLocks/>
          </p:cNvCxnSpPr>
          <p:nvPr/>
        </p:nvCxnSpPr>
        <p:spPr>
          <a:xfrm>
            <a:off x="9728200" y="1299310"/>
            <a:ext cx="0" cy="387249"/>
          </a:xfrm>
          <a:prstGeom prst="line">
            <a:avLst/>
          </a:prstGeom>
          <a:ln w="4445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15C6349-C9B0-3BC4-8B16-8B4B897D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9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5E63A-5BF6-2D51-64BD-94B7DDCF83B7}"/>
              </a:ext>
            </a:extLst>
          </p:cNvPr>
          <p:cNvSpPr txBox="1"/>
          <p:nvPr/>
        </p:nvSpPr>
        <p:spPr>
          <a:xfrm>
            <a:off x="4103370" y="354330"/>
            <a:ext cx="453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IN DATASET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8B4E0-648F-BAF0-1DC6-37278CF15047}"/>
              </a:ext>
            </a:extLst>
          </p:cNvPr>
          <p:cNvSpPr/>
          <p:nvPr/>
        </p:nvSpPr>
        <p:spPr>
          <a:xfrm>
            <a:off x="465209" y="1108038"/>
            <a:ext cx="5558006" cy="5395632"/>
          </a:xfrm>
          <a:prstGeom prst="rect">
            <a:avLst/>
          </a:prstGeom>
          <a:solidFill>
            <a:srgbClr val="021F64">
              <a:alpha val="31000"/>
            </a:srgbClr>
          </a:solidFill>
          <a:ln w="0"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F649D-3169-B4F2-31FA-351237137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48" y="1853671"/>
            <a:ext cx="5151127" cy="457200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9C926A-5AE1-75FD-E850-9935BD7C819A}"/>
              </a:ext>
            </a:extLst>
          </p:cNvPr>
          <p:cNvSpPr txBox="1"/>
          <p:nvPr/>
        </p:nvSpPr>
        <p:spPr>
          <a:xfrm>
            <a:off x="946673" y="1312433"/>
            <a:ext cx="430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GENDER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BED501-1BF9-5BED-AAD9-D5EF357456E8}"/>
              </a:ext>
            </a:extLst>
          </p:cNvPr>
          <p:cNvSpPr/>
          <p:nvPr/>
        </p:nvSpPr>
        <p:spPr>
          <a:xfrm>
            <a:off x="6168788" y="1108038"/>
            <a:ext cx="5912050" cy="5395632"/>
          </a:xfrm>
          <a:prstGeom prst="rect">
            <a:avLst/>
          </a:prstGeom>
          <a:solidFill>
            <a:srgbClr val="021F64">
              <a:alpha val="31000"/>
            </a:srgbClr>
          </a:solidFill>
          <a:ln w="0"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A50209-66CD-1443-85AC-294404C9E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810" y="1996820"/>
            <a:ext cx="5558006" cy="4428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6E4254-F4E3-8573-D0BF-1A50741E4264}"/>
              </a:ext>
            </a:extLst>
          </p:cNvPr>
          <p:cNvSpPr txBox="1"/>
          <p:nvPr/>
        </p:nvSpPr>
        <p:spPr>
          <a:xfrm>
            <a:off x="6594438" y="1312433"/>
            <a:ext cx="4830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AGE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6" name="Graphic 15" descr="Group of women with solid fill">
            <a:extLst>
              <a:ext uri="{FF2B5EF4-FFF2-40B4-BE49-F238E27FC236}">
                <a16:creationId xmlns:a16="http://schemas.microsoft.com/office/drawing/2014/main" id="{6A58BD50-FAD4-8CCF-38D7-CF0601369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3624" y="1307539"/>
            <a:ext cx="561437" cy="461665"/>
          </a:xfrm>
          <a:prstGeom prst="rect">
            <a:avLst/>
          </a:prstGeom>
        </p:spPr>
      </p:pic>
      <p:pic>
        <p:nvPicPr>
          <p:cNvPr id="18" name="Graphic 17" descr="Clock with solid fill">
            <a:extLst>
              <a:ext uri="{FF2B5EF4-FFF2-40B4-BE49-F238E27FC236}">
                <a16:creationId xmlns:a16="http://schemas.microsoft.com/office/drawing/2014/main" id="{356C7EBA-1B0E-3966-1557-16DE1A15D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935" y="1232726"/>
            <a:ext cx="616839" cy="61129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372D73C-2D97-3578-D83E-D377549E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9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90566-C129-862D-2223-73DCF5B62DC5}"/>
              </a:ext>
            </a:extLst>
          </p:cNvPr>
          <p:cNvSpPr/>
          <p:nvPr/>
        </p:nvSpPr>
        <p:spPr>
          <a:xfrm>
            <a:off x="311972" y="344244"/>
            <a:ext cx="3646842" cy="4292302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5D2270-3352-4709-0C4A-52AFEE1739F4}"/>
              </a:ext>
            </a:extLst>
          </p:cNvPr>
          <p:cNvSpPr/>
          <p:nvPr/>
        </p:nvSpPr>
        <p:spPr>
          <a:xfrm>
            <a:off x="4206240" y="2076226"/>
            <a:ext cx="3646842" cy="4658062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0D23F-1896-4A20-48DE-85E10D9BB10E}"/>
              </a:ext>
            </a:extLst>
          </p:cNvPr>
          <p:cNvSpPr/>
          <p:nvPr/>
        </p:nvSpPr>
        <p:spPr>
          <a:xfrm>
            <a:off x="8100509" y="344244"/>
            <a:ext cx="3861996" cy="4292302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20F91-A820-17C7-4B18-9D62A2CD4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62" y="499556"/>
            <a:ext cx="3437062" cy="3168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4ED97-0A75-5541-066A-F410D9736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362" y="446438"/>
            <a:ext cx="3646842" cy="3221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BBC4C5-A980-8D8B-8076-EF27C9B7A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666" y="2967764"/>
            <a:ext cx="3151990" cy="36602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48A846-9C90-74A7-900D-78FBE391E306}"/>
              </a:ext>
            </a:extLst>
          </p:cNvPr>
          <p:cNvSpPr txBox="1"/>
          <p:nvPr/>
        </p:nvSpPr>
        <p:spPr>
          <a:xfrm>
            <a:off x="4572000" y="2302136"/>
            <a:ext cx="315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SKILL INDEX &amp; WAGE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9EA949-41B4-BFA7-DB61-48EE14887E40}"/>
              </a:ext>
            </a:extLst>
          </p:cNvPr>
          <p:cNvSpPr txBox="1"/>
          <p:nvPr/>
        </p:nvSpPr>
        <p:spPr>
          <a:xfrm>
            <a:off x="737419" y="3903406"/>
            <a:ext cx="2802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SKILL INDEX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BEA42-9646-4687-020E-BD6925292092}"/>
              </a:ext>
            </a:extLst>
          </p:cNvPr>
          <p:cNvSpPr txBox="1"/>
          <p:nvPr/>
        </p:nvSpPr>
        <p:spPr>
          <a:xfrm>
            <a:off x="8554065" y="3903406"/>
            <a:ext cx="2900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WAGE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9F357-0237-CCCC-C7A5-116114A5EA2B}"/>
              </a:ext>
            </a:extLst>
          </p:cNvPr>
          <p:cNvSpPr txBox="1"/>
          <p:nvPr/>
        </p:nvSpPr>
        <p:spPr>
          <a:xfrm>
            <a:off x="311971" y="4791858"/>
            <a:ext cx="36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significantly enhances human capital</a:t>
            </a:r>
            <a:endParaRPr lang="en-IN" sz="2000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6BDCE-A976-D5FB-22D4-1B69483375EF}"/>
              </a:ext>
            </a:extLst>
          </p:cNvPr>
          <p:cNvSpPr txBox="1"/>
          <p:nvPr/>
        </p:nvSpPr>
        <p:spPr>
          <a:xfrm>
            <a:off x="8100509" y="4923692"/>
            <a:ext cx="3861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Wages are concentrated between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₹25,000–₹60,000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few at extremes, indicating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earnings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variation across occupations.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01D1D1-0018-D0BE-7FE5-FE81D78C7AEE}"/>
              </a:ext>
            </a:extLst>
          </p:cNvPr>
          <p:cNvSpPr txBox="1"/>
          <p:nvPr/>
        </p:nvSpPr>
        <p:spPr>
          <a:xfrm>
            <a:off x="4206240" y="388688"/>
            <a:ext cx="36468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relationship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index and wages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human capital theory, though variation suggests influence of other factors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FE7A0D0-9928-6F3D-B6C0-E4F6D9AC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4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38CDEA-B143-E8F0-EDCD-0B0272DB43EB}"/>
              </a:ext>
            </a:extLst>
          </p:cNvPr>
          <p:cNvSpPr/>
          <p:nvPr/>
        </p:nvSpPr>
        <p:spPr>
          <a:xfrm>
            <a:off x="628022" y="313767"/>
            <a:ext cx="4454770" cy="4746505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9E1510-791D-128F-6FFC-01EB48324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37" y="1492294"/>
            <a:ext cx="3907140" cy="34080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D512EF0-6BB4-AB58-A4EE-50D76A729FA3}"/>
              </a:ext>
            </a:extLst>
          </p:cNvPr>
          <p:cNvSpPr/>
          <p:nvPr/>
        </p:nvSpPr>
        <p:spPr>
          <a:xfrm>
            <a:off x="5737412" y="313766"/>
            <a:ext cx="5558117" cy="4746505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92B020-F427-CE28-509B-8C10B5B5A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247468"/>
              </p:ext>
            </p:extLst>
          </p:nvPr>
        </p:nvGraphicFramePr>
        <p:xfrm>
          <a:off x="6160994" y="1492294"/>
          <a:ext cx="4710952" cy="3408018"/>
        </p:xfrm>
        <a:graphic>
          <a:graphicData uri="http://schemas.openxmlformats.org/drawingml/2006/table">
            <a:tbl>
              <a:tblPr firstRow="1" bandRow="1">
                <a:effectLst>
                  <a:outerShdw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1128868435"/>
                    </a:ext>
                  </a:extLst>
                </a:gridCol>
                <a:gridCol w="1580776">
                  <a:extLst>
                    <a:ext uri="{9D8B030D-6E8A-4147-A177-3AD203B41FA5}">
                      <a16:colId xmlns:a16="http://schemas.microsoft.com/office/drawing/2014/main" val="3426131389"/>
                    </a:ext>
                  </a:extLst>
                </a:gridCol>
                <a:gridCol w="1580776">
                  <a:extLst>
                    <a:ext uri="{9D8B030D-6E8A-4147-A177-3AD203B41FA5}">
                      <a16:colId xmlns:a16="http://schemas.microsoft.com/office/drawing/2014/main" val="3035486183"/>
                    </a:ext>
                  </a:extLst>
                </a:gridCol>
              </a:tblGrid>
              <a:tr h="71238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D4AF37"/>
                          </a:solidFill>
                        </a:rPr>
                        <a:t>Variables</a:t>
                      </a:r>
                      <a:endParaRPr lang="en-IN" dirty="0">
                        <a:solidFill>
                          <a:srgbClr val="D4AF37"/>
                        </a:solidFill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D4AF37"/>
                          </a:solidFill>
                        </a:rPr>
                        <a:t>Non-Entrepreneurs</a:t>
                      </a:r>
                      <a:endParaRPr lang="en-IN" dirty="0">
                        <a:solidFill>
                          <a:srgbClr val="D4AF37"/>
                        </a:solidFill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D4AF37"/>
                          </a:solidFill>
                        </a:rPr>
                        <a:t>Entrepreneurs</a:t>
                      </a:r>
                      <a:endParaRPr lang="en-IN" dirty="0">
                        <a:solidFill>
                          <a:srgbClr val="D4AF37"/>
                        </a:solidFill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5715"/>
                  </a:ext>
                </a:extLst>
              </a:tr>
              <a:tr h="417795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48.47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59.26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678607"/>
                  </a:ext>
                </a:extLst>
              </a:tr>
              <a:tr h="721126">
                <a:tc>
                  <a:txBody>
                    <a:bodyPr/>
                    <a:lstStyle/>
                    <a:p>
                      <a:r>
                        <a:rPr lang="en-US" dirty="0"/>
                        <a:t>Experience Abroad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10.51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17.25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416714"/>
                  </a:ext>
                </a:extLst>
              </a:tr>
              <a:tr h="417795">
                <a:tc>
                  <a:txBody>
                    <a:bodyPr/>
                    <a:lstStyle/>
                    <a:p>
                      <a:r>
                        <a:rPr lang="en-US" dirty="0"/>
                        <a:t>Skill Index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3.56</a:t>
                      </a:r>
                      <a:endParaRPr lang="en-IN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3.56</a:t>
                      </a:r>
                      <a:endParaRPr lang="en-IN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427266"/>
                  </a:ext>
                </a:extLst>
              </a:tr>
              <a:tr h="721126">
                <a:tc>
                  <a:txBody>
                    <a:bodyPr/>
                    <a:lstStyle/>
                    <a:p>
                      <a:r>
                        <a:rPr lang="en-US" dirty="0"/>
                        <a:t>Government Support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0.168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0.394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683637"/>
                  </a:ext>
                </a:extLst>
              </a:tr>
              <a:tr h="417795">
                <a:tc>
                  <a:txBody>
                    <a:bodyPr/>
                    <a:lstStyle/>
                    <a:p>
                      <a:r>
                        <a:rPr lang="en-US" dirty="0"/>
                        <a:t>Wage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41214.29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60403.85</a:t>
                      </a:r>
                      <a:endParaRPr lang="en-IN" dirty="0"/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388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C987C8-9754-1C52-0F31-67B8A908ACD8}"/>
              </a:ext>
            </a:extLst>
          </p:cNvPr>
          <p:cNvSpPr txBox="1"/>
          <p:nvPr/>
        </p:nvSpPr>
        <p:spPr>
          <a:xfrm>
            <a:off x="896471" y="581858"/>
            <a:ext cx="4177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UTILIZATION INDEX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4353E-2E4A-CD46-1176-9AD3E50B1433}"/>
              </a:ext>
            </a:extLst>
          </p:cNvPr>
          <p:cNvSpPr txBox="1"/>
          <p:nvPr/>
        </p:nvSpPr>
        <p:spPr>
          <a:xfrm>
            <a:off x="6096000" y="415076"/>
            <a:ext cx="49933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COMPARISON-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ENTREPREPRENEURS &amp; NON-ENTREPRENEURS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3FDCC2-C2C5-FE8F-0659-143BA5549C0E}"/>
              </a:ext>
            </a:extLst>
          </p:cNvPr>
          <p:cNvSpPr txBox="1"/>
          <p:nvPr/>
        </p:nvSpPr>
        <p:spPr>
          <a:xfrm>
            <a:off x="5862918" y="5151644"/>
            <a:ext cx="5226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driven by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yields </a:t>
            </a:r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income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beyond skill alone.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D0D2D0-3E8B-9227-E2E8-7FC171E771AC}"/>
              </a:ext>
            </a:extLst>
          </p:cNvPr>
          <p:cNvSpPr txBox="1"/>
          <p:nvPr/>
        </p:nvSpPr>
        <p:spPr>
          <a:xfrm>
            <a:off x="628022" y="5151644"/>
            <a:ext cx="48406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return migrants effectively utilize foreign-acquired skills, though some mismatch persists.</a:t>
            </a:r>
          </a:p>
          <a:p>
            <a:r>
              <a:rPr lang="en-US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around 4 → moderate level skill utilization</a:t>
            </a:r>
            <a:endParaRPr lang="en-IN" sz="2000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B7479DD-E435-E3DF-ED59-CD3FE3F2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4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9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2B0895-A1A2-420C-E60D-9A7FC0F56097}"/>
              </a:ext>
            </a:extLst>
          </p:cNvPr>
          <p:cNvSpPr/>
          <p:nvPr/>
        </p:nvSpPr>
        <p:spPr>
          <a:xfrm>
            <a:off x="616226" y="178904"/>
            <a:ext cx="10585174" cy="6351105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85121B-1A9F-1FC7-6904-4B6C5FFA6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488579"/>
              </p:ext>
            </p:extLst>
          </p:nvPr>
        </p:nvGraphicFramePr>
        <p:xfrm>
          <a:off x="1135270" y="863379"/>
          <a:ext cx="9547085" cy="5359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09417">
                  <a:extLst>
                    <a:ext uri="{9D8B030D-6E8A-4147-A177-3AD203B41FA5}">
                      <a16:colId xmlns:a16="http://schemas.microsoft.com/office/drawing/2014/main" val="3232340726"/>
                    </a:ext>
                  </a:extLst>
                </a:gridCol>
                <a:gridCol w="1909417">
                  <a:extLst>
                    <a:ext uri="{9D8B030D-6E8A-4147-A177-3AD203B41FA5}">
                      <a16:colId xmlns:a16="http://schemas.microsoft.com/office/drawing/2014/main" val="3841740514"/>
                    </a:ext>
                  </a:extLst>
                </a:gridCol>
                <a:gridCol w="1909417">
                  <a:extLst>
                    <a:ext uri="{9D8B030D-6E8A-4147-A177-3AD203B41FA5}">
                      <a16:colId xmlns:a16="http://schemas.microsoft.com/office/drawing/2014/main" val="2850857741"/>
                    </a:ext>
                  </a:extLst>
                </a:gridCol>
                <a:gridCol w="1909417">
                  <a:extLst>
                    <a:ext uri="{9D8B030D-6E8A-4147-A177-3AD203B41FA5}">
                      <a16:colId xmlns:a16="http://schemas.microsoft.com/office/drawing/2014/main" val="1912926191"/>
                    </a:ext>
                  </a:extLst>
                </a:gridCol>
                <a:gridCol w="1909417">
                  <a:extLst>
                    <a:ext uri="{9D8B030D-6E8A-4147-A177-3AD203B41FA5}">
                      <a16:colId xmlns:a16="http://schemas.microsoft.com/office/drawing/2014/main" val="3031756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6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52.21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54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 of experience abroad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0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942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Married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97023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migration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Secondary or below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5532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814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igher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-secondary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15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Undergraduate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94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-graduate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87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8519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571A3C-0E33-A85C-3E77-E69F7452A018}"/>
              </a:ext>
            </a:extLst>
          </p:cNvPr>
          <p:cNvSpPr txBox="1"/>
          <p:nvPr/>
        </p:nvSpPr>
        <p:spPr>
          <a:xfrm>
            <a:off x="2713383" y="318052"/>
            <a:ext cx="615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D4AF37"/>
                </a:solidFill>
              </a:rPr>
              <a:t>SUMMARY STATISTICS</a:t>
            </a:r>
            <a:endParaRPr lang="en-IN" sz="2400" b="1" dirty="0">
              <a:solidFill>
                <a:srgbClr val="D4AF37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E2BCC-2729-3F5C-CDD4-78AFB3EF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2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5BCF13-28D1-2A8F-0EF2-DF4F3A48C963}"/>
              </a:ext>
            </a:extLst>
          </p:cNvPr>
          <p:cNvSpPr/>
          <p:nvPr/>
        </p:nvSpPr>
        <p:spPr>
          <a:xfrm>
            <a:off x="1023729" y="357809"/>
            <a:ext cx="10325101" cy="4234069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12011B-F596-FA15-F121-AA50CFD21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24566"/>
              </p:ext>
            </p:extLst>
          </p:nvPr>
        </p:nvGraphicFramePr>
        <p:xfrm>
          <a:off x="1428065" y="708047"/>
          <a:ext cx="9516428" cy="3533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828">
                  <a:extLst>
                    <a:ext uri="{9D8B030D-6E8A-4147-A177-3AD203B41FA5}">
                      <a16:colId xmlns:a16="http://schemas.microsoft.com/office/drawing/2014/main" val="323302674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0437635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261515856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479013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128039049"/>
                    </a:ext>
                  </a:extLst>
                </a:gridCol>
              </a:tblGrid>
              <a:tr h="3540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7620" marR="7620" marT="7620" marB="0" anchor="b"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194881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index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3.56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0.829582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01318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47866.67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25724.46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200000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995174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1.100688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13955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Govt support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0.431791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52918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after return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0.255573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89863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abroad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0.37626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1015"/>
                  </a:ext>
                </a:extLst>
              </a:tr>
              <a:tr h="354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0.476704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86064"/>
                  </a:ext>
                </a:extLst>
              </a:tr>
              <a:tr h="669336">
                <a:tc>
                  <a:txBody>
                    <a:bodyPr/>
                    <a:lstStyle/>
                    <a:p>
                      <a:pPr algn="l"/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 job</a:t>
                      </a:r>
                    </a:p>
                    <a:p>
                      <a:pPr algn="l"/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0.44 </a:t>
                      </a:r>
                    </a:p>
                    <a:p>
                      <a:pPr algn="l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0.51 </a:t>
                      </a:r>
                    </a:p>
                    <a:p>
                      <a:pPr algn="l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2412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10E43E-761A-EA10-63E5-E9B7316786F2}"/>
              </a:ext>
            </a:extLst>
          </p:cNvPr>
          <p:cNvSpPr/>
          <p:nvPr/>
        </p:nvSpPr>
        <p:spPr>
          <a:xfrm>
            <a:off x="1023729" y="4942116"/>
            <a:ext cx="4502428" cy="1473359"/>
          </a:xfrm>
          <a:prstGeom prst="roundRect">
            <a:avLst/>
          </a:prstGeom>
          <a:solidFill>
            <a:srgbClr val="DAE4FE">
              <a:alpha val="85000"/>
            </a:srgbClr>
          </a:solidFill>
          <a:ln>
            <a:solidFill>
              <a:srgbClr val="DAE4FE">
                <a:alpha val="85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049B7B-F06F-41E0-9342-AC7A4E2A3FE0}"/>
              </a:ext>
            </a:extLst>
          </p:cNvPr>
          <p:cNvSpPr/>
          <p:nvPr/>
        </p:nvSpPr>
        <p:spPr>
          <a:xfrm>
            <a:off x="6665844" y="4942116"/>
            <a:ext cx="4682985" cy="1473358"/>
          </a:xfrm>
          <a:prstGeom prst="roundRect">
            <a:avLst/>
          </a:prstGeom>
          <a:solidFill>
            <a:srgbClr val="DAE4FE">
              <a:alpha val="85000"/>
            </a:srgbClr>
          </a:solidFill>
          <a:ln>
            <a:solidFill>
              <a:srgbClr val="DAE4FE">
                <a:alpha val="85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77A31-CC1D-3B2D-5D9F-3F6A5D26F6AB}"/>
              </a:ext>
            </a:extLst>
          </p:cNvPr>
          <p:cNvSpPr txBox="1"/>
          <p:nvPr/>
        </p:nvSpPr>
        <p:spPr>
          <a:xfrm>
            <a:off x="1123122" y="5059017"/>
            <a:ext cx="42141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Possess moderate to high skill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utilization is high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44932-462C-BACE-50C2-092ACD133123}"/>
              </a:ext>
            </a:extLst>
          </p:cNvPr>
          <p:cNvSpPr txBox="1"/>
          <p:nvPr/>
        </p:nvSpPr>
        <p:spPr>
          <a:xfrm>
            <a:off x="6818243" y="5059017"/>
            <a:ext cx="435002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government support remains limited</a:t>
            </a:r>
          </a:p>
          <a:p>
            <a:endParaRPr lang="en-IN" dirty="0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E8A5A92-6F89-5A1C-DD18-D6AD6E49E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122" y="5059017"/>
            <a:ext cx="304943" cy="387627"/>
          </a:xfrm>
          <a:prstGeom prst="rect">
            <a:avLst/>
          </a:prstGeom>
        </p:spPr>
      </p:pic>
      <p:pic>
        <p:nvPicPr>
          <p:cNvPr id="12" name="Graphic 11" descr="Warning with solid fill">
            <a:extLst>
              <a:ext uri="{FF2B5EF4-FFF2-40B4-BE49-F238E27FC236}">
                <a16:creationId xmlns:a16="http://schemas.microsoft.com/office/drawing/2014/main" id="{C7B07CDD-5334-B79A-1F41-D9D3DF82A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8669" y="5082680"/>
            <a:ext cx="415790" cy="34029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F0FF4AF-9B90-46C9-8438-14255D88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54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B4804A-09B6-6119-8293-4988B4F2AC1F}"/>
              </a:ext>
            </a:extLst>
          </p:cNvPr>
          <p:cNvSpPr/>
          <p:nvPr/>
        </p:nvSpPr>
        <p:spPr>
          <a:xfrm>
            <a:off x="509047" y="697583"/>
            <a:ext cx="6523349" cy="5344997"/>
          </a:xfrm>
          <a:prstGeom prst="rect">
            <a:avLst/>
          </a:prstGeom>
          <a:solidFill>
            <a:srgbClr val="021F64">
              <a:alpha val="31000"/>
            </a:srgb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CA28C-978B-F719-F1EB-5CBA50B8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24" y="1943360"/>
            <a:ext cx="5062193" cy="3733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B579F8-FDBF-8ECF-2EC0-DA2944577401}"/>
              </a:ext>
            </a:extLst>
          </p:cNvPr>
          <p:cNvSpPr txBox="1"/>
          <p:nvPr/>
        </p:nvSpPr>
        <p:spPr>
          <a:xfrm>
            <a:off x="1239624" y="904973"/>
            <a:ext cx="5180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VARIABLES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255E70-9A4E-8EB3-C1CE-96ECDC01DDAF}"/>
              </a:ext>
            </a:extLst>
          </p:cNvPr>
          <p:cNvSpPr/>
          <p:nvPr/>
        </p:nvSpPr>
        <p:spPr>
          <a:xfrm>
            <a:off x="7762973" y="697582"/>
            <a:ext cx="4270342" cy="2312757"/>
          </a:xfrm>
          <a:prstGeom prst="rect">
            <a:avLst/>
          </a:prstGeom>
          <a:solidFill>
            <a:srgbClr val="DAE4FE">
              <a:alpha val="85000"/>
            </a:srgbClr>
          </a:solidFill>
          <a:ln>
            <a:solidFill>
              <a:srgbClr val="DAE4FE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9C2FE-E9C2-7183-BFF9-CE8341CB0757}"/>
              </a:ext>
            </a:extLst>
          </p:cNvPr>
          <p:cNvSpPr/>
          <p:nvPr/>
        </p:nvSpPr>
        <p:spPr>
          <a:xfrm>
            <a:off x="7762973" y="4145437"/>
            <a:ext cx="4270342" cy="1791093"/>
          </a:xfrm>
          <a:prstGeom prst="rect">
            <a:avLst/>
          </a:prstGeom>
          <a:solidFill>
            <a:srgbClr val="DAE4FE">
              <a:alpha val="85000"/>
            </a:srgb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F3932-1F8D-66D5-BA07-8A9CC31D5425}"/>
              </a:ext>
            </a:extLst>
          </p:cNvPr>
          <p:cNvSpPr txBox="1"/>
          <p:nvPr/>
        </p:nvSpPr>
        <p:spPr>
          <a:xfrm>
            <a:off x="7861955" y="763571"/>
            <a:ext cx="41713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index, skill utilization, and wages, indicating the role of skills in improving earnings.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abroad is strongly associated with wages and entrepreneurship.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F1071-DEED-7945-92ED-74F2DA8BA939}"/>
              </a:ext>
            </a:extLst>
          </p:cNvPr>
          <p:cNvSpPr txBox="1"/>
          <p:nvPr/>
        </p:nvSpPr>
        <p:spPr>
          <a:xfrm>
            <a:off x="7861955" y="4270342"/>
            <a:ext cx="40346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high correlations suggests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serious multicollinearity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variables.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8D7D1F-2DD1-AC1E-ABDA-C95A1C5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63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389AE2-CB83-DECF-191F-4C362E5E6BD6}"/>
              </a:ext>
            </a:extLst>
          </p:cNvPr>
          <p:cNvSpPr txBox="1"/>
          <p:nvPr/>
        </p:nvSpPr>
        <p:spPr>
          <a:xfrm>
            <a:off x="2037760" y="75102"/>
            <a:ext cx="8116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ANALYSIS RESULTS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703045-BE75-0760-A05E-6A30B49A9930}"/>
              </a:ext>
            </a:extLst>
          </p:cNvPr>
          <p:cNvCxnSpPr>
            <a:cxnSpLocks/>
          </p:cNvCxnSpPr>
          <p:nvPr/>
        </p:nvCxnSpPr>
        <p:spPr>
          <a:xfrm>
            <a:off x="1489436" y="678731"/>
            <a:ext cx="8851769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5801EDD-3859-1352-4A06-5C83FFB2D03F}"/>
              </a:ext>
            </a:extLst>
          </p:cNvPr>
          <p:cNvSpPr/>
          <p:nvPr/>
        </p:nvSpPr>
        <p:spPr>
          <a:xfrm>
            <a:off x="766711" y="961536"/>
            <a:ext cx="10658574" cy="5703212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5799CF-6B9B-C508-DF08-15B9D11B2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587369"/>
              </p:ext>
            </p:extLst>
          </p:nvPr>
        </p:nvGraphicFramePr>
        <p:xfrm>
          <a:off x="1499775" y="1085182"/>
          <a:ext cx="9192446" cy="539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98569">
                  <a:extLst>
                    <a:ext uri="{9D8B030D-6E8A-4147-A177-3AD203B41FA5}">
                      <a16:colId xmlns:a16="http://schemas.microsoft.com/office/drawing/2014/main" val="17747845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3100899"/>
                    </a:ext>
                  </a:extLst>
                </a:gridCol>
                <a:gridCol w="1918878">
                  <a:extLst>
                    <a:ext uri="{9D8B030D-6E8A-4147-A177-3AD203B41FA5}">
                      <a16:colId xmlns:a16="http://schemas.microsoft.com/office/drawing/2014/main" val="419812714"/>
                    </a:ext>
                  </a:extLst>
                </a:gridCol>
                <a:gridCol w="1624294">
                  <a:extLst>
                    <a:ext uri="{9D8B030D-6E8A-4147-A177-3AD203B41FA5}">
                      <a16:colId xmlns:a16="http://schemas.microsoft.com/office/drawing/2014/main" val="898188020"/>
                    </a:ext>
                  </a:extLst>
                </a:gridCol>
                <a:gridCol w="1725105">
                  <a:extLst>
                    <a:ext uri="{9D8B030D-6E8A-4147-A177-3AD203B41FA5}">
                      <a16:colId xmlns:a16="http://schemas.microsoft.com/office/drawing/2014/main" val="189497253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842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Logit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OLS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2759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Employment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Entrepreneurship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9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Skill Index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4.791***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1.463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0.220***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0.634***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Experience abroad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1.006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1.021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0.0005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-0.002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Government support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2.036+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1.312 </a:t>
                      </a:r>
                    </a:p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0.047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0.235 </a:t>
                      </a:r>
                    </a:p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7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Age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1.105***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0.010***  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kern="120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-0.031*** </a:t>
                      </a:r>
                    </a:p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11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Gender Female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1.557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0.428+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-0.070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-0.026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5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Marital Status Single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1.021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2.439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-0.033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-0.408*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3861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CEAB19-FB85-4400-563D-E9629E5D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1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4070DD-39A6-24C7-2EC4-C15074DB7E4A}"/>
              </a:ext>
            </a:extLst>
          </p:cNvPr>
          <p:cNvSpPr/>
          <p:nvPr/>
        </p:nvSpPr>
        <p:spPr>
          <a:xfrm>
            <a:off x="766713" y="169683"/>
            <a:ext cx="10658574" cy="6381946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rgbClr val="021F64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DAEC0D-ED71-3D94-036B-520705979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834507"/>
              </p:ext>
            </p:extLst>
          </p:nvPr>
        </p:nvGraphicFramePr>
        <p:xfrm>
          <a:off x="1281390" y="441960"/>
          <a:ext cx="9629219" cy="570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13199">
                  <a:extLst>
                    <a:ext uri="{9D8B030D-6E8A-4147-A177-3AD203B41FA5}">
                      <a16:colId xmlns:a16="http://schemas.microsoft.com/office/drawing/2014/main" val="1774784571"/>
                    </a:ext>
                  </a:extLst>
                </a:gridCol>
                <a:gridCol w="1704005">
                  <a:extLst>
                    <a:ext uri="{9D8B030D-6E8A-4147-A177-3AD203B41FA5}">
                      <a16:colId xmlns:a16="http://schemas.microsoft.com/office/drawing/2014/main" val="3573100899"/>
                    </a:ext>
                  </a:extLst>
                </a:gridCol>
                <a:gridCol w="2011428">
                  <a:extLst>
                    <a:ext uri="{9D8B030D-6E8A-4147-A177-3AD203B41FA5}">
                      <a16:colId xmlns:a16="http://schemas.microsoft.com/office/drawing/2014/main" val="419812714"/>
                    </a:ext>
                  </a:extLst>
                </a:gridCol>
                <a:gridCol w="1396582">
                  <a:extLst>
                    <a:ext uri="{9D8B030D-6E8A-4147-A177-3AD203B41FA5}">
                      <a16:colId xmlns:a16="http://schemas.microsoft.com/office/drawing/2014/main" val="898188020"/>
                    </a:ext>
                  </a:extLst>
                </a:gridCol>
                <a:gridCol w="1704005">
                  <a:extLst>
                    <a:ext uri="{9D8B030D-6E8A-4147-A177-3AD203B41FA5}">
                      <a16:colId xmlns:a16="http://schemas.microsoft.com/office/drawing/2014/main" val="189497253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842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Logit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OLS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275962"/>
                  </a:ext>
                </a:extLst>
              </a:tr>
              <a:tr h="358114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Employment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Entrepreneurship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90710"/>
                  </a:ext>
                </a:extLst>
              </a:tr>
              <a:tr h="358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secondary or below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-0.248***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0.122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3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higher secondary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0.649 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-0.180***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-0.036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postgraduation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4.997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0.273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0.214**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-0.011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Other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1.381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1.366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-0.080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0.008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7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abroad 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4.012+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1.453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0.369***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-0.155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11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after return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2.061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0.727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 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-0.285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5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Constant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9.380*** 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3.150***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386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86E2-F7A4-F728-387F-D2087834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09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792EF-69CB-8D2B-2FD7-4CAA517A5A94}"/>
              </a:ext>
            </a:extLst>
          </p:cNvPr>
          <p:cNvSpPr/>
          <p:nvPr/>
        </p:nvSpPr>
        <p:spPr>
          <a:xfrm>
            <a:off x="274320" y="609600"/>
            <a:ext cx="3820160" cy="3728720"/>
          </a:xfrm>
          <a:prstGeom prst="rect">
            <a:avLst/>
          </a:prstGeom>
          <a:solidFill>
            <a:srgbClr val="DAE4FE">
              <a:alpha val="86000"/>
            </a:srgb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86418-DF6F-BA59-9407-9832241694C4}"/>
              </a:ext>
            </a:extLst>
          </p:cNvPr>
          <p:cNvSpPr/>
          <p:nvPr/>
        </p:nvSpPr>
        <p:spPr>
          <a:xfrm>
            <a:off x="4142740" y="609600"/>
            <a:ext cx="3820160" cy="3728720"/>
          </a:xfrm>
          <a:prstGeom prst="rect">
            <a:avLst/>
          </a:prstGeom>
          <a:solidFill>
            <a:srgbClr val="DAE4FE">
              <a:alpha val="86000"/>
            </a:srgb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E6054-227C-CD13-3214-B798E0B900CC}"/>
              </a:ext>
            </a:extLst>
          </p:cNvPr>
          <p:cNvSpPr txBox="1"/>
          <p:nvPr/>
        </p:nvSpPr>
        <p:spPr>
          <a:xfrm>
            <a:off x="373380" y="737334"/>
            <a:ext cx="367792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SIGNIFICANT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utilization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employment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Entrepreneurship: older migrants more likely to start businesses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4FB29-2A2A-FB45-D07F-6EBE1E1114A7}"/>
              </a:ext>
            </a:extLst>
          </p:cNvPr>
          <p:cNvSpPr txBox="1"/>
          <p:nvPr/>
        </p:nvSpPr>
        <p:spPr>
          <a:xfrm>
            <a:off x="4231640" y="702321"/>
            <a:ext cx="382016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SIGNIFICANT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utilization: older migrants may not fully utilize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Lower-level education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Wage: individual with less education earn less</a:t>
            </a:r>
          </a:p>
          <a:p>
            <a:pPr lvl="1"/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847D1-A668-2772-908D-865C88349239}"/>
              </a:ext>
            </a:extLst>
          </p:cNvPr>
          <p:cNvSpPr/>
          <p:nvPr/>
        </p:nvSpPr>
        <p:spPr>
          <a:xfrm>
            <a:off x="8011160" y="609600"/>
            <a:ext cx="3820160" cy="3728720"/>
          </a:xfrm>
          <a:prstGeom prst="rect">
            <a:avLst/>
          </a:prstGeom>
          <a:solidFill>
            <a:srgbClr val="DAE4FE">
              <a:alpha val="86000"/>
            </a:srgbClr>
          </a:solidFill>
          <a:ln>
            <a:solidFill>
              <a:srgbClr val="DAE4FE">
                <a:alpha val="80000"/>
              </a:srgb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CA028-8788-14C6-A27E-C0D3EA864AC6}"/>
              </a:ext>
            </a:extLst>
          </p:cNvPr>
          <p:cNvSpPr txBox="1"/>
          <p:nvPr/>
        </p:nvSpPr>
        <p:spPr>
          <a:xfrm>
            <a:off x="8128000" y="661254"/>
            <a:ext cx="358648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WEAK/ NOT SIGNIFICANT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education: limited independent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support: gaps in policy effectiveness.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abroad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D5362-1227-DE44-A7EE-9C746440C2D9}"/>
              </a:ext>
            </a:extLst>
          </p:cNvPr>
          <p:cNvSpPr/>
          <p:nvPr/>
        </p:nvSpPr>
        <p:spPr>
          <a:xfrm>
            <a:off x="274320" y="4477206"/>
            <a:ext cx="5722620" cy="1981200"/>
          </a:xfrm>
          <a:prstGeom prst="rect">
            <a:avLst/>
          </a:prstGeom>
          <a:solidFill>
            <a:srgbClr val="DAE4FE"/>
          </a:solidFill>
          <a:ln>
            <a:solidFill>
              <a:srgbClr val="DAE4FE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9322E-DD2C-64BB-F1EE-59209E18793E}"/>
                  </a:ext>
                </a:extLst>
              </p:cNvPr>
              <p:cNvSpPr txBox="1"/>
              <p:nvPr/>
            </p:nvSpPr>
            <p:spPr>
              <a:xfrm>
                <a:off x="373380" y="4487793"/>
                <a:ext cx="549910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: skill acquisition has positive and significant effect on wage.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: skill acquisition increases probability of formal employment.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: skill acquisition significantly improves skill utilization.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9322E-DD2C-64BB-F1EE-59209E187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" y="4487793"/>
                <a:ext cx="5499100" cy="1785104"/>
              </a:xfrm>
              <a:prstGeom prst="rect">
                <a:avLst/>
              </a:prstGeom>
              <a:blipFill>
                <a:blip r:embed="rId3"/>
                <a:stretch>
                  <a:fillRect l="-1109" t="-1706" r="-665" b="-44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9BA1D7F8-4B09-C1F8-DD0B-FAD3846F4998}"/>
              </a:ext>
            </a:extLst>
          </p:cNvPr>
          <p:cNvSpPr/>
          <p:nvPr/>
        </p:nvSpPr>
        <p:spPr>
          <a:xfrm>
            <a:off x="6118860" y="4477206"/>
            <a:ext cx="5722620" cy="1981200"/>
          </a:xfrm>
          <a:prstGeom prst="rect">
            <a:avLst/>
          </a:prstGeom>
          <a:solidFill>
            <a:srgbClr val="DAE4FE"/>
          </a:solidFill>
          <a:ln>
            <a:solidFill>
              <a:srgbClr val="DAE4FE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72470-7714-644D-E532-69AF324166EF}"/>
                  </a:ext>
                </a:extLst>
              </p:cNvPr>
              <p:cNvSpPr txBox="1"/>
              <p:nvPr/>
            </p:nvSpPr>
            <p:spPr>
              <a:xfrm>
                <a:off x="6195062" y="4477206"/>
                <a:ext cx="56769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migration experience does not have significant effect on labour market outcomes.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dirty="0"/>
                  <a:t>: government support does not significantly influence entrepreneurship.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IN" dirty="0"/>
                  <a:t>: skill acquisition does not significantly affect entrepreneurship.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72470-7714-644D-E532-69AF32416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62" y="4477206"/>
                <a:ext cx="5676900" cy="2062103"/>
              </a:xfrm>
              <a:prstGeom prst="rect">
                <a:avLst/>
              </a:prstGeom>
              <a:blipFill>
                <a:blip r:embed="rId4"/>
                <a:stretch>
                  <a:fillRect l="-1073" t="-1475" b="-35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E8FBD98-A833-6943-01D4-739B4808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9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35A497-A0ED-8C92-68B7-D1455EB09044}"/>
              </a:ext>
            </a:extLst>
          </p:cNvPr>
          <p:cNvSpPr/>
          <p:nvPr/>
        </p:nvSpPr>
        <p:spPr>
          <a:xfrm>
            <a:off x="416560" y="1117600"/>
            <a:ext cx="11267440" cy="478536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8A3F43-DA0E-ED1A-7769-8C999061C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20" y="821438"/>
            <a:ext cx="9570720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acquisition is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determinant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 outcomes, significantly improving wages, formal employment, and skill utilization.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education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A3A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an independent impact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practical skills matter more than qualifications.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not driven by skills, but is more influenced by factors such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experience.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support has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A3A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role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gaps in policy effectiveness and outreach.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there exists a gap between skill acquisition and its effective utilization in the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275D1-2491-E7AD-118A-BE9F43A8D705}"/>
              </a:ext>
            </a:extLst>
          </p:cNvPr>
          <p:cNvSpPr txBox="1"/>
          <p:nvPr/>
        </p:nvSpPr>
        <p:spPr>
          <a:xfrm>
            <a:off x="1877060" y="236663"/>
            <a:ext cx="8437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DISCUSSIONS</a:t>
            </a:r>
            <a:endParaRPr lang="en-IN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E975B0-174D-9063-171D-C13170078022}"/>
              </a:ext>
            </a:extLst>
          </p:cNvPr>
          <p:cNvCxnSpPr/>
          <p:nvPr/>
        </p:nvCxnSpPr>
        <p:spPr>
          <a:xfrm>
            <a:off x="1432560" y="821438"/>
            <a:ext cx="9326880" cy="0"/>
          </a:xfrm>
          <a:prstGeom prst="line">
            <a:avLst/>
          </a:prstGeom>
          <a:ln w="4762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3B1F0-2A8F-F255-2E55-D306E37E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766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85AA0D-45F3-770E-3526-AA571FFD252C}"/>
              </a:ext>
            </a:extLst>
          </p:cNvPr>
          <p:cNvSpPr/>
          <p:nvPr/>
        </p:nvSpPr>
        <p:spPr>
          <a:xfrm>
            <a:off x="853440" y="650240"/>
            <a:ext cx="4632960" cy="447040"/>
          </a:xfrm>
          <a:prstGeom prst="rect">
            <a:avLst/>
          </a:prstGeom>
          <a:solidFill>
            <a:srgbClr val="DAE4FE">
              <a:alpha val="8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711CE5-1662-BD64-AE14-0D3EDCF4D16B}"/>
              </a:ext>
            </a:extLst>
          </p:cNvPr>
          <p:cNvSpPr/>
          <p:nvPr/>
        </p:nvSpPr>
        <p:spPr>
          <a:xfrm>
            <a:off x="6512560" y="650240"/>
            <a:ext cx="4632960" cy="447040"/>
          </a:xfrm>
          <a:prstGeom prst="rect">
            <a:avLst/>
          </a:prstGeom>
          <a:solidFill>
            <a:srgbClr val="DAE4FE">
              <a:alpha val="8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D1B7B2-F147-B5F5-6B39-26688344ACB9}"/>
              </a:ext>
            </a:extLst>
          </p:cNvPr>
          <p:cNvSpPr/>
          <p:nvPr/>
        </p:nvSpPr>
        <p:spPr>
          <a:xfrm>
            <a:off x="853440" y="650240"/>
            <a:ext cx="4632960" cy="522224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7A42C-9589-05F8-34DC-D45F841CEE7C}"/>
              </a:ext>
            </a:extLst>
          </p:cNvPr>
          <p:cNvSpPr/>
          <p:nvPr/>
        </p:nvSpPr>
        <p:spPr>
          <a:xfrm>
            <a:off x="6512560" y="650240"/>
            <a:ext cx="4632960" cy="522224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6350C-085B-5E15-D517-6DEF360F8CE8}"/>
              </a:ext>
            </a:extLst>
          </p:cNvPr>
          <p:cNvSpPr txBox="1"/>
          <p:nvPr/>
        </p:nvSpPr>
        <p:spPr>
          <a:xfrm>
            <a:off x="853440" y="650240"/>
            <a:ext cx="4348480" cy="363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 and coverage are limited which may affect generalizability.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is only on individual-level analysis, excluding household or employer perspective.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variables may not be fully captured or measured accurately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C3BB5-71EA-5810-2A0B-90024748F355}"/>
              </a:ext>
            </a:extLst>
          </p:cNvPr>
          <p:cNvSpPr txBox="1"/>
          <p:nvPr/>
        </p:nvSpPr>
        <p:spPr>
          <a:xfrm>
            <a:off x="6664960" y="558800"/>
            <a:ext cx="4328160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employer side analysis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gender differences in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market outcome.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the effectiveness of government schemes in greater detail.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the impact of external economic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analyze in age-related patterns in entrepreneurship activities.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880A8D3-A7FE-A977-7790-ABDB34EE8950}"/>
              </a:ext>
            </a:extLst>
          </p:cNvPr>
          <p:cNvSpPr/>
          <p:nvPr/>
        </p:nvSpPr>
        <p:spPr>
          <a:xfrm>
            <a:off x="5679441" y="2689473"/>
            <a:ext cx="660400" cy="484632"/>
          </a:xfrm>
          <a:prstGeom prst="rightArrow">
            <a:avLst/>
          </a:prstGeom>
          <a:solidFill>
            <a:srgbClr val="DAE4FE">
              <a:alpha val="86000"/>
            </a:srgbClr>
          </a:solidFill>
          <a:ln>
            <a:solidFill>
              <a:srgbClr val="DAE4FE">
                <a:alpha val="8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8D067-0E96-62BE-DDB8-399CBF2F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439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E6445-AFE2-8404-98B5-07CC09F29E50}"/>
              </a:ext>
            </a:extLst>
          </p:cNvPr>
          <p:cNvSpPr/>
          <p:nvPr/>
        </p:nvSpPr>
        <p:spPr>
          <a:xfrm>
            <a:off x="1071880" y="1315720"/>
            <a:ext cx="10048240" cy="4226560"/>
          </a:xfrm>
          <a:prstGeom prst="rect">
            <a:avLst/>
          </a:prstGeom>
          <a:solidFill>
            <a:srgbClr val="021F64">
              <a:alpha val="31000"/>
            </a:srgbClr>
          </a:solidFill>
          <a:ln>
            <a:solidFill>
              <a:schemeClr val="accent1">
                <a:shade val="15000"/>
                <a:alpha val="8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F84DFC-7A0A-5A37-F166-03C2C8EF0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1" y="1449383"/>
            <a:ext cx="8655366" cy="3237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NORKA</a:t>
            </a: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Non-Resident Keralites Affairs)</a:t>
            </a:r>
            <a:r>
              <a:rPr lang="en-IN" dirty="0"/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structured reintegration and skill recognition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 skills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Kerala’s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 needs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&amp; recognition of foreign skills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coordination &amp;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 information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inclusive entrepreneurship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among youth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D4AF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awareness and access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programs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9223C-3073-2F4D-7EA4-080D2260B819}"/>
              </a:ext>
            </a:extLst>
          </p:cNvPr>
          <p:cNvSpPr txBox="1"/>
          <p:nvPr/>
        </p:nvSpPr>
        <p:spPr>
          <a:xfrm>
            <a:off x="1417320" y="396239"/>
            <a:ext cx="8341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RECOMMENDATIONS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7EF50-8BD0-17C3-2F12-0F49A2156890}"/>
              </a:ext>
            </a:extLst>
          </p:cNvPr>
          <p:cNvCxnSpPr/>
          <p:nvPr/>
        </p:nvCxnSpPr>
        <p:spPr>
          <a:xfrm>
            <a:off x="944880" y="1066800"/>
            <a:ext cx="9286240" cy="0"/>
          </a:xfrm>
          <a:prstGeom prst="line">
            <a:avLst/>
          </a:prstGeom>
          <a:ln w="47625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E770AE-B5C5-1642-FD04-B3701313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77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C64F6A-E97D-7F10-AA2F-681A1AF5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1E28A-4483-4C6D-B381-64C6FFCF792B}"/>
              </a:ext>
            </a:extLst>
          </p:cNvPr>
          <p:cNvSpPr txBox="1"/>
          <p:nvPr/>
        </p:nvSpPr>
        <p:spPr>
          <a:xfrm>
            <a:off x="2667000" y="3044279"/>
            <a:ext cx="685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63DEC1-AD82-CCE5-7B03-F36C20C4C378}"/>
              </a:ext>
            </a:extLst>
          </p:cNvPr>
          <p:cNvCxnSpPr>
            <a:cxnSpLocks/>
          </p:cNvCxnSpPr>
          <p:nvPr/>
        </p:nvCxnSpPr>
        <p:spPr>
          <a:xfrm>
            <a:off x="4480560" y="3972560"/>
            <a:ext cx="3261360" cy="0"/>
          </a:xfrm>
          <a:prstGeom prst="line">
            <a:avLst/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7AF6D-C7D8-69EA-05F8-77017CEB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D0F9D-2CDC-552E-33BD-59D294AA8BE5}"/>
              </a:ext>
            </a:extLst>
          </p:cNvPr>
          <p:cNvSpPr txBox="1"/>
          <p:nvPr/>
        </p:nvSpPr>
        <p:spPr>
          <a:xfrm>
            <a:off x="2627556" y="614474"/>
            <a:ext cx="609420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i="0" u="none" strike="noStrike" baseline="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Skill acquisition has a positive and significant impact on the wage outcome of return migrants. </a:t>
            </a:r>
            <a:endParaRPr lang="en-IN" sz="2000" b="0" i="0" u="none" strike="noStrike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H2: Skill acquisition increases the probability of formal employment among return migrants. </a:t>
            </a:r>
          </a:p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H3: Migration experience has a positive effect on the labor market outcome. </a:t>
            </a:r>
          </a:p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H4: Skill acquisition positively influences skill utilization by return migrants in the domestic labor market. </a:t>
            </a:r>
          </a:p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H5: Government support increases the chances of entrepreneurial activities. </a:t>
            </a:r>
          </a:p>
          <a:p>
            <a:pPr algn="just"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H6: Skill acquisition has a significant effect on entrepreneurial activities.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267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F3E0E-EA04-3446-38B2-2A189723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4F351-7BBB-D877-C435-A18A93D7D2CA}"/>
              </a:ext>
            </a:extLst>
          </p:cNvPr>
          <p:cNvSpPr txBox="1"/>
          <p:nvPr/>
        </p:nvSpPr>
        <p:spPr>
          <a:xfrm>
            <a:off x="3261946" y="263769"/>
            <a:ext cx="4712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APPENDICES</a:t>
            </a:r>
            <a:endParaRPr lang="en-IN" sz="32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0142A9-1271-FA4E-A29F-A92821D33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442499"/>
              </p:ext>
            </p:extLst>
          </p:nvPr>
        </p:nvGraphicFramePr>
        <p:xfrm>
          <a:off x="1315137" y="1082992"/>
          <a:ext cx="9192446" cy="5455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98569">
                  <a:extLst>
                    <a:ext uri="{9D8B030D-6E8A-4147-A177-3AD203B41FA5}">
                      <a16:colId xmlns:a16="http://schemas.microsoft.com/office/drawing/2014/main" val="17747845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3100899"/>
                    </a:ext>
                  </a:extLst>
                </a:gridCol>
                <a:gridCol w="1918878">
                  <a:extLst>
                    <a:ext uri="{9D8B030D-6E8A-4147-A177-3AD203B41FA5}">
                      <a16:colId xmlns:a16="http://schemas.microsoft.com/office/drawing/2014/main" val="419812714"/>
                    </a:ext>
                  </a:extLst>
                </a:gridCol>
                <a:gridCol w="1624294">
                  <a:extLst>
                    <a:ext uri="{9D8B030D-6E8A-4147-A177-3AD203B41FA5}">
                      <a16:colId xmlns:a16="http://schemas.microsoft.com/office/drawing/2014/main" val="898188020"/>
                    </a:ext>
                  </a:extLst>
                </a:gridCol>
                <a:gridCol w="1725105">
                  <a:extLst>
                    <a:ext uri="{9D8B030D-6E8A-4147-A177-3AD203B41FA5}">
                      <a16:colId xmlns:a16="http://schemas.microsoft.com/office/drawing/2014/main" val="189497253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842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Logit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OLS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2759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Employment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Entrepreneurship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9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Skill Index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4.791***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(&lt;0.001)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1.463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(0.111)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0.220***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(0.035)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0.634***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(0.091)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Experience abroad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1.006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(0.843)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1.021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(0.443)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0.0005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(0.004)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-0.002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(0.011)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Government support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2.036+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(0.088)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1.312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(0.433)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0.047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(0.055)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0.235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(0.143)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7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Age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0.966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(0.167)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1.105***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(&lt;0.001)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0.010***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(0.003)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-0.031***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(0.009)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11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Gender Female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1.557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(0.392)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0.428+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(0.085)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-0.070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(0.064)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-0.026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(0.165)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5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Marital Status Single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1.021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(0.979)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2.439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(0.253)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-0.033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(0.091)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-0.408*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(0.234)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3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05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E2464-7220-7413-DA3C-EA70516F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27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7BC554-B0E8-CA54-B541-85873113E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11127"/>
              </p:ext>
            </p:extLst>
          </p:nvPr>
        </p:nvGraphicFramePr>
        <p:xfrm>
          <a:off x="1281390" y="441960"/>
          <a:ext cx="9629219" cy="5974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13199">
                  <a:extLst>
                    <a:ext uri="{9D8B030D-6E8A-4147-A177-3AD203B41FA5}">
                      <a16:colId xmlns:a16="http://schemas.microsoft.com/office/drawing/2014/main" val="1774784571"/>
                    </a:ext>
                  </a:extLst>
                </a:gridCol>
                <a:gridCol w="1704005">
                  <a:extLst>
                    <a:ext uri="{9D8B030D-6E8A-4147-A177-3AD203B41FA5}">
                      <a16:colId xmlns:a16="http://schemas.microsoft.com/office/drawing/2014/main" val="3573100899"/>
                    </a:ext>
                  </a:extLst>
                </a:gridCol>
                <a:gridCol w="2011428">
                  <a:extLst>
                    <a:ext uri="{9D8B030D-6E8A-4147-A177-3AD203B41FA5}">
                      <a16:colId xmlns:a16="http://schemas.microsoft.com/office/drawing/2014/main" val="419812714"/>
                    </a:ext>
                  </a:extLst>
                </a:gridCol>
                <a:gridCol w="1396582">
                  <a:extLst>
                    <a:ext uri="{9D8B030D-6E8A-4147-A177-3AD203B41FA5}">
                      <a16:colId xmlns:a16="http://schemas.microsoft.com/office/drawing/2014/main" val="898188020"/>
                    </a:ext>
                  </a:extLst>
                </a:gridCol>
                <a:gridCol w="1704005">
                  <a:extLst>
                    <a:ext uri="{9D8B030D-6E8A-4147-A177-3AD203B41FA5}">
                      <a16:colId xmlns:a16="http://schemas.microsoft.com/office/drawing/2014/main" val="1894972531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842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Logit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OLS Models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275962"/>
                  </a:ext>
                </a:extLst>
              </a:tr>
              <a:tr h="358114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Employment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Entrepreneurship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Wage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4AF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  <a:endParaRPr lang="en-IN" sz="2000" dirty="0">
                        <a:solidFill>
                          <a:srgbClr val="D4AF3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90710"/>
                  </a:ext>
                </a:extLst>
              </a:tr>
              <a:tr h="358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secondary or below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0.546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(0.206)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(0.131)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-0.248***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(0.065)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0.122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(0.167)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3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higher secondary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0.586 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(0.254)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0.649 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(0.300)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-0.180***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(0.060) 	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-0.036 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(0.156)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postgraduation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4.997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(0.146)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0.273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(0.130)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0.214**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(0.093)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(0.240)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before Other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1.381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(0.614)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1.366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(0.652)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-0.080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(0.103)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0.008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(0.267)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7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abroad 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4.012+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(0.083)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1.453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(0.573)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0.369***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(0.086)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-0.155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(0.221)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11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Education after return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2.061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(0.546)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0.727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(0.732)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(0.102) 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-0.285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(0.263)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5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Constant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(0.004)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(&lt;0.001)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9.380***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(0.202)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3.150***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(0.522) 	</a:t>
                      </a: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63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85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87EBD-60E1-58CE-542E-3AD3E067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28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612F3D-94E8-7EF0-18F9-972F5EF7C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41186"/>
              </p:ext>
            </p:extLst>
          </p:nvPr>
        </p:nvGraphicFramePr>
        <p:xfrm>
          <a:off x="2268668" y="1677096"/>
          <a:ext cx="8128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551089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075398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0906806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337739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874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Num.Obs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62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268.5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334.8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316.6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382.9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7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0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R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0.389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226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78FD9E-C790-1BC3-EE35-D94814330449}"/>
              </a:ext>
            </a:extLst>
          </p:cNvPr>
          <p:cNvSpPr txBox="1"/>
          <p:nvPr/>
        </p:nvSpPr>
        <p:spPr>
          <a:xfrm>
            <a:off x="2268668" y="3745669"/>
            <a:ext cx="609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20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p &lt; 0.1, * p &lt; 0.05, ** p &lt; 0.01, *** p &lt; 0.001 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83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0D6B31-ECBB-8057-8295-9CEFEF09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29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6E3223-9949-5F39-E0AF-165541DB9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505551"/>
              </p:ext>
            </p:extLst>
          </p:nvPr>
        </p:nvGraphicFramePr>
        <p:xfrm>
          <a:off x="1732083" y="858925"/>
          <a:ext cx="9102969" cy="5827448"/>
        </p:xfrm>
        <a:graphic>
          <a:graphicData uri="http://schemas.openxmlformats.org/drawingml/2006/table">
            <a:tbl>
              <a:tblPr/>
              <a:tblGrid>
                <a:gridCol w="3508131">
                  <a:extLst>
                    <a:ext uri="{9D8B030D-6E8A-4147-A177-3AD203B41FA5}">
                      <a16:colId xmlns:a16="http://schemas.microsoft.com/office/drawing/2014/main" val="2808369268"/>
                    </a:ext>
                  </a:extLst>
                </a:gridCol>
                <a:gridCol w="1852246">
                  <a:extLst>
                    <a:ext uri="{9D8B030D-6E8A-4147-A177-3AD203B41FA5}">
                      <a16:colId xmlns:a16="http://schemas.microsoft.com/office/drawing/2014/main" val="3273083754"/>
                    </a:ext>
                  </a:extLst>
                </a:gridCol>
                <a:gridCol w="1910862">
                  <a:extLst>
                    <a:ext uri="{9D8B030D-6E8A-4147-A177-3AD203B41FA5}">
                      <a16:colId xmlns:a16="http://schemas.microsoft.com/office/drawing/2014/main" val="639155971"/>
                    </a:ext>
                  </a:extLst>
                </a:gridCol>
                <a:gridCol w="1831730">
                  <a:extLst>
                    <a:ext uri="{9D8B030D-6E8A-4147-A177-3AD203B41FA5}">
                      <a16:colId xmlns:a16="http://schemas.microsoft.com/office/drawing/2014/main" val="688111663"/>
                    </a:ext>
                  </a:extLst>
                </a:gridCol>
              </a:tblGrid>
              <a:tr h="473563">
                <a:tc rowSpan="2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b="1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b="1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1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employment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27259"/>
                  </a:ext>
                </a:extLst>
              </a:tr>
              <a:tr h="57746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Model1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Model2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Model3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89089"/>
                  </a:ext>
                </a:extLst>
              </a:tr>
              <a:tr h="66101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index</a:t>
                      </a: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7.062***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4.946***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4.791***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86361"/>
                  </a:ext>
                </a:extLst>
              </a:tr>
              <a:tr h="85519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0.954**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0.973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(0.265)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(0.167)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267255"/>
                  </a:ext>
                </a:extLst>
              </a:tr>
              <a:tr h="85519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Female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1.839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(0.189)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1.505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(0.424)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1.557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(0.392)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101662"/>
                  </a:ext>
                </a:extLst>
              </a:tr>
              <a:tr h="85519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Marital status Single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1.324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(0.685)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1.048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(0.954)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1.021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(0.979)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69250"/>
                  </a:ext>
                </a:extLst>
              </a:tr>
              <a:tr h="112375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 before Higher secondary</a:t>
                      </a: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0.721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(0.464)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0.586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(0.254)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174" marR="24174" marT="12087" marB="120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0941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5B06279-2884-B37B-E99B-0E6EF53DE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837839" y="3772649"/>
            <a:ext cx="648370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4C21C-0C51-884A-81D9-9EDDDB284966}"/>
              </a:ext>
            </a:extLst>
          </p:cNvPr>
          <p:cNvSpPr txBox="1"/>
          <p:nvPr/>
        </p:nvSpPr>
        <p:spPr>
          <a:xfrm>
            <a:off x="2608382" y="136525"/>
            <a:ext cx="73503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employment regression result </a:t>
            </a:r>
          </a:p>
        </p:txBody>
      </p:sp>
    </p:spTree>
    <p:extLst>
      <p:ext uri="{BB962C8B-B14F-4D97-AF65-F5344CB8AC3E}">
        <p14:creationId xmlns:p14="http://schemas.microsoft.com/office/powerpoint/2010/main" val="3005411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4E0DC3-18AC-8EE7-F5FA-367E72C8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30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FF50EB-C548-E61D-08F3-A164D931C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594084"/>
              </p:ext>
            </p:extLst>
          </p:nvPr>
        </p:nvGraphicFramePr>
        <p:xfrm>
          <a:off x="1570891" y="303482"/>
          <a:ext cx="8733696" cy="6280640"/>
        </p:xfrm>
        <a:graphic>
          <a:graphicData uri="http://schemas.openxmlformats.org/drawingml/2006/table">
            <a:tbl>
              <a:tblPr/>
              <a:tblGrid>
                <a:gridCol w="2183424">
                  <a:extLst>
                    <a:ext uri="{9D8B030D-6E8A-4147-A177-3AD203B41FA5}">
                      <a16:colId xmlns:a16="http://schemas.microsoft.com/office/drawing/2014/main" val="733907614"/>
                    </a:ext>
                  </a:extLst>
                </a:gridCol>
                <a:gridCol w="2183424">
                  <a:extLst>
                    <a:ext uri="{9D8B030D-6E8A-4147-A177-3AD203B41FA5}">
                      <a16:colId xmlns:a16="http://schemas.microsoft.com/office/drawing/2014/main" val="3391019795"/>
                    </a:ext>
                  </a:extLst>
                </a:gridCol>
                <a:gridCol w="2183424">
                  <a:extLst>
                    <a:ext uri="{9D8B030D-6E8A-4147-A177-3AD203B41FA5}">
                      <a16:colId xmlns:a16="http://schemas.microsoft.com/office/drawing/2014/main" val="3265885879"/>
                    </a:ext>
                  </a:extLst>
                </a:gridCol>
                <a:gridCol w="2183424">
                  <a:extLst>
                    <a:ext uri="{9D8B030D-6E8A-4147-A177-3AD203B41FA5}">
                      <a16:colId xmlns:a16="http://schemas.microsoft.com/office/drawing/2014/main" val="1024650225"/>
                    </a:ext>
                  </a:extLst>
                </a:gridCol>
              </a:tblGrid>
              <a:tr h="121282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edu_beforeOther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1.730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(0.380)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1.381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(0.614)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02387"/>
                  </a:ext>
                </a:extLst>
              </a:tr>
              <a:tr h="121282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edu_beforePost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-graduation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4.588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(0.167)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4.997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(0.146)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597260"/>
                  </a:ext>
                </a:extLst>
              </a:tr>
              <a:tr h="121282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edu_beforeSecondary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below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0.595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(0.275)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0.546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(0.206)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057556"/>
                  </a:ext>
                </a:extLst>
              </a:tr>
              <a:tr h="121282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edu_abroad</a:t>
                      </a: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4.114+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(0.078)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4.012+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(0.083)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343353"/>
                  </a:ext>
                </a:extLst>
              </a:tr>
              <a:tr h="121282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edu_after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2.149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(0.521)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2.061</a:t>
                      </a: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(0.546)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928" marR="36928" marT="18464" marB="184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9941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58493BF-9AA0-2DB4-AA8D-631AED2B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28766" y="1591164"/>
            <a:ext cx="4421248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74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A65EF-8F3F-415F-1B95-4DCB744B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31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7416BE-71A6-DB7D-52CA-910260DD2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131053"/>
              </p:ext>
            </p:extLst>
          </p:nvPr>
        </p:nvGraphicFramePr>
        <p:xfrm>
          <a:off x="2032000" y="719666"/>
          <a:ext cx="812800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854757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130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97783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4307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exp_abroad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1.014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0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(0.622)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(0.843)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govt_support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2.036+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367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(Intercept)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0.007***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0.007**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0.012**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83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77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Num.Obs.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31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264.3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269.4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268.5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6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282.8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313.8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316.6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8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Log.Lik.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−127.128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−122.686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−121.227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59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20.843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7.203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4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537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272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D2FA5A-2B16-1E41-A89F-F863557B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62C09-FF22-C7A9-A709-2E8F019B0250}"/>
              </a:ext>
            </a:extLst>
          </p:cNvPr>
          <p:cNvSpPr txBox="1"/>
          <p:nvPr/>
        </p:nvSpPr>
        <p:spPr>
          <a:xfrm>
            <a:off x="1717430" y="136525"/>
            <a:ext cx="87571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regression result </a:t>
            </a:r>
            <a:endParaRPr lang="en-IN" sz="3000" b="1" dirty="0">
              <a:solidFill>
                <a:srgbClr val="D4AF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EB679B-1C54-4778-188B-A26CD249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114532"/>
              </p:ext>
            </p:extLst>
          </p:nvPr>
        </p:nvGraphicFramePr>
        <p:xfrm>
          <a:off x="1137138" y="838835"/>
          <a:ext cx="9917722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577">
                  <a:extLst>
                    <a:ext uri="{9D8B030D-6E8A-4147-A177-3AD203B41FA5}">
                      <a16:colId xmlns:a16="http://schemas.microsoft.com/office/drawing/2014/main" val="2123891302"/>
                    </a:ext>
                  </a:extLst>
                </a:gridCol>
                <a:gridCol w="2382715">
                  <a:extLst>
                    <a:ext uri="{9D8B030D-6E8A-4147-A177-3AD203B41FA5}">
                      <a16:colId xmlns:a16="http://schemas.microsoft.com/office/drawing/2014/main" val="3500192435"/>
                    </a:ext>
                  </a:extLst>
                </a:gridCol>
                <a:gridCol w="2382715">
                  <a:extLst>
                    <a:ext uri="{9D8B030D-6E8A-4147-A177-3AD203B41FA5}">
                      <a16:colId xmlns:a16="http://schemas.microsoft.com/office/drawing/2014/main" val="3839374513"/>
                    </a:ext>
                  </a:extLst>
                </a:gridCol>
                <a:gridCol w="2382715">
                  <a:extLst>
                    <a:ext uri="{9D8B030D-6E8A-4147-A177-3AD203B41FA5}">
                      <a16:colId xmlns:a16="http://schemas.microsoft.com/office/drawing/2014/main" val="121182300"/>
                    </a:ext>
                  </a:extLst>
                </a:gridCol>
              </a:tblGrid>
              <a:tr h="240506">
                <a:tc rowSpan="3"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Variable</a:t>
                      </a:r>
                      <a:endParaRPr lang="en-IN" sz="200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26950"/>
                  </a:ext>
                </a:extLst>
              </a:tr>
              <a:tr h="24050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Entrepreneurship</a:t>
                      </a:r>
                      <a:endParaRPr lang="en-IN" sz="200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552276"/>
                  </a:ext>
                </a:extLst>
              </a:tr>
              <a:tr h="34923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Model1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Model2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Model3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321020"/>
                  </a:ext>
                </a:extLst>
              </a:tr>
              <a:tr h="24050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Index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1.647**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1.485+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215383"/>
                  </a:ext>
                </a:extLst>
              </a:tr>
              <a:tr h="5238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(0.009)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(0.111)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940523"/>
                  </a:ext>
                </a:extLst>
              </a:tr>
              <a:tr h="24050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1.113***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1.110***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1.105***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694085"/>
                  </a:ext>
                </a:extLst>
              </a:tr>
              <a:tr h="5238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32089"/>
                  </a:ext>
                </a:extLst>
              </a:tr>
              <a:tr h="24050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Female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0.468+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0.423+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0.428+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88484"/>
                  </a:ext>
                </a:extLst>
              </a:tr>
              <a:tr h="5238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(0.083)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400888"/>
                  </a:ext>
                </a:extLst>
              </a:tr>
              <a:tr h="24050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Marital status Single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2.517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2.539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2.439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83449"/>
                  </a:ext>
                </a:extLst>
              </a:tr>
              <a:tr h="52385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(0.197)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(0.234)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(0.253)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550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889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780BD-2491-2724-72DB-2D492E2A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33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A60C5B-5DB4-A7F4-3F03-75903BC29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2022"/>
              </p:ext>
            </p:extLst>
          </p:nvPr>
        </p:nvGraphicFramePr>
        <p:xfrm>
          <a:off x="838200" y="0"/>
          <a:ext cx="10052539" cy="701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3164">
                  <a:extLst>
                    <a:ext uri="{9D8B030D-6E8A-4147-A177-3AD203B41FA5}">
                      <a16:colId xmlns:a16="http://schemas.microsoft.com/office/drawing/2014/main" val="1004466685"/>
                    </a:ext>
                  </a:extLst>
                </a:gridCol>
                <a:gridCol w="2583105">
                  <a:extLst>
                    <a:ext uri="{9D8B030D-6E8A-4147-A177-3AD203B41FA5}">
                      <a16:colId xmlns:a16="http://schemas.microsoft.com/office/drawing/2014/main" val="197244606"/>
                    </a:ext>
                  </a:extLst>
                </a:gridCol>
                <a:gridCol w="2513135">
                  <a:extLst>
                    <a:ext uri="{9D8B030D-6E8A-4147-A177-3AD203B41FA5}">
                      <a16:colId xmlns:a16="http://schemas.microsoft.com/office/drawing/2014/main" val="2237989365"/>
                    </a:ext>
                  </a:extLst>
                </a:gridCol>
                <a:gridCol w="2513135">
                  <a:extLst>
                    <a:ext uri="{9D8B030D-6E8A-4147-A177-3AD203B41FA5}">
                      <a16:colId xmlns:a16="http://schemas.microsoft.com/office/drawing/2014/main" val="1123500970"/>
                    </a:ext>
                  </a:extLst>
                </a:gridCol>
              </a:tblGrid>
              <a:tr h="6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Secondary or below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156095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(0.148)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(0.131)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842503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Higher secondary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108575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(0.360)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(0.300)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58576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Post-graduation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02629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(0.120)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(0.130)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63119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Other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1.487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45102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(0.560)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(0.652)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8964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abroad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1.453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070489"/>
                  </a:ext>
                </a:extLst>
              </a:tr>
              <a:tr h="642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(0.566)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(0.573)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534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60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EBACE-D393-7570-89C8-BDADDB89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34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5B357E-747F-ECEA-DED4-2240D126C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183033"/>
              </p:ext>
            </p:extLst>
          </p:nvPr>
        </p:nvGraphicFramePr>
        <p:xfrm>
          <a:off x="2032000" y="136525"/>
          <a:ext cx="812800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098927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22672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21932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8742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 abroad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78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(0.393)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(0.443)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6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support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02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(0.433)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993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Intercept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0.000***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(&lt;0.001)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Num.Obs.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95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326.5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333.4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334.8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22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345.0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377.8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382.9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0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Log.Lik.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−158.230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−154.687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−154.382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68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12.952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4.809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4.484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7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867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EC3C27-725E-4E45-8358-DD27FAE2161F}"/>
              </a:ext>
            </a:extLst>
          </p:cNvPr>
          <p:cNvSpPr txBox="1"/>
          <p:nvPr/>
        </p:nvSpPr>
        <p:spPr>
          <a:xfrm>
            <a:off x="2032000" y="648866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 p &lt; 0.1, * p &lt; 0.05, ** p &lt; 0.01, *** p &lt; 0.001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443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4FE1D-E038-4641-9DF1-4ECB7595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35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0C806E-73C2-FA2B-8BB9-58525F69F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19242"/>
              </p:ext>
            </p:extLst>
          </p:nvPr>
        </p:nvGraphicFramePr>
        <p:xfrm>
          <a:off x="2032000" y="60960"/>
          <a:ext cx="8128000" cy="679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791231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967376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563001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970870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45813070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1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variable:</a:t>
                      </a:r>
                      <a:endParaRPr lang="en-IN" sz="2000" b="1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74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0" u="none" strike="noStrike" dirty="0" err="1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ln_wage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716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Model1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2000" b="1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Model2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Model3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Interaction Model</a:t>
                      </a:r>
                      <a:endParaRPr lang="en-IN" sz="2000" b="1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68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Index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0.223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0.307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84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(0.029)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(0.035)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(0.035)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(0.037)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9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2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9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Female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-0.070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-0.070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1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1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Marital status Single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0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(0.089)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(0.090)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732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556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9EEFD-5FE5-03C7-CDB1-2B716DD5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36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D0AA0B-988B-509E-2809-3A088E8F9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63383"/>
              </p:ext>
            </p:extLst>
          </p:nvPr>
        </p:nvGraphicFramePr>
        <p:xfrm>
          <a:off x="1854200" y="136525"/>
          <a:ext cx="8128000" cy="68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119290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572405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096350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855491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85750999"/>
                    </a:ext>
                  </a:extLst>
                </a:gridCol>
              </a:tblGrid>
              <a:tr h="125410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Secondary or below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-0.242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-0.248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-0.208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483953"/>
                  </a:ext>
                </a:extLst>
              </a:tr>
              <a:tr h="6708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8768"/>
                  </a:ext>
                </a:extLst>
              </a:tr>
              <a:tr h="96245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Higher secondary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-0.171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-0.180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-0.128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61015"/>
                  </a:ext>
                </a:extLst>
              </a:tr>
              <a:tr h="6708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(0.059)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54829"/>
                  </a:ext>
                </a:extLst>
              </a:tr>
              <a:tr h="96245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Post-graduation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0.214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38284"/>
                  </a:ext>
                </a:extLst>
              </a:tr>
              <a:tr h="6708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609450"/>
                  </a:ext>
                </a:extLst>
              </a:tr>
              <a:tr h="67080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Other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-0.066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-0.080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-0.113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896337"/>
                  </a:ext>
                </a:extLst>
              </a:tr>
              <a:tr h="6708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(0.103)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(0.106)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94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944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8FC3FD-E6C9-C05A-05C7-C302DBD8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37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222022-31A5-2BD9-1B05-E2D8CC9AA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9349"/>
              </p:ext>
            </p:extLst>
          </p:nvPr>
        </p:nvGraphicFramePr>
        <p:xfrm>
          <a:off x="2169160" y="502285"/>
          <a:ext cx="8128000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748365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866832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721389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602095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40462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abroad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12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(0.086)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4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after return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94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 abroad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-0.0004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45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1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support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8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(0.055)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(0.231)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665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855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85CFAE-6638-172F-58CD-D69644E2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38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6FB19E-B7B2-B135-3671-9FF763A36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26630"/>
              </p:ext>
            </p:extLst>
          </p:nvPr>
        </p:nvGraphicFramePr>
        <p:xfrm>
          <a:off x="363220" y="30480"/>
          <a:ext cx="8128000" cy="679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192252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83261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474690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876412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40574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</a:t>
                      </a: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Index:government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support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-0.087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(0.066)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9.339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9.345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9.380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9.368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85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(0.178)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(0.198)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(0.202)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(0.217)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03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54626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0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9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6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R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 Std. Error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0.382 (df = 295)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0.363 (df = 288)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0.364 (df = 287)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0.376 (df = 288)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3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Statistic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37.299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(df = 4; 295)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18.335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(df = 11; 288)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16.851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(df = 12; 287)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15.476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11; 288)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2042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8C951F-2C1B-BAA7-24BC-F473508C0E42}"/>
              </a:ext>
            </a:extLst>
          </p:cNvPr>
          <p:cNvSpPr txBox="1"/>
          <p:nvPr/>
        </p:nvSpPr>
        <p:spPr>
          <a:xfrm>
            <a:off x="8610600" y="4798814"/>
            <a:ext cx="3877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p&lt;0.1; </a:t>
            </a:r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p&lt;0.05; </a:t>
            </a:r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***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p&lt;0.01</a:t>
            </a:r>
            <a:endParaRPr lang="en-IN" dirty="0">
              <a:solidFill>
                <a:srgbClr val="D4AF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868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54A2B5-F7F2-EF1A-443F-33E50730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39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76BAEC-5EAF-57B9-1201-89B3AD8AB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845656"/>
              </p:ext>
            </p:extLst>
          </p:nvPr>
        </p:nvGraphicFramePr>
        <p:xfrm>
          <a:off x="2032000" y="433916"/>
          <a:ext cx="8128000" cy="618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034797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887414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589385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580840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1" u="none" strike="noStrike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variable:</a:t>
                      </a:r>
                      <a:endParaRPr lang="en-IN" sz="200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9068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utilization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1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Model1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Model2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Model3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21F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21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Index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0.649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65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(0.072)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(0.091)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45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-0.024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-0.028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-0.031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62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(0.006)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(0.009)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(0.009)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13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Female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44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(0.156)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(0.165)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Marital  status Single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-0.476</a:t>
                      </a:r>
                      <a:r>
                        <a:rPr lang="en-IN" sz="20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-0.382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-0.408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46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(0.218)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(0.235)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(0.234)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609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527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7250C-3321-61B5-E094-47FCBE62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40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6E62C8-507A-B049-4D1F-6350E5C12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7756"/>
              </p:ext>
            </p:extLst>
          </p:nvPr>
        </p:nvGraphicFramePr>
        <p:xfrm>
          <a:off x="2032000" y="136525"/>
          <a:ext cx="812800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37648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13660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15847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61377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Higher secondary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67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(0.154)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(0.156)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5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before Other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09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(0.264)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(0.267)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78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  before Post-graduation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-0.011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7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(0.240)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(0.240)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6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edu_beforeSecondary or below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32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(0.167)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abroad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-0.151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(0.222)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-0.155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(0.221)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41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503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1A0557-5A19-F0EB-A51D-55F24A88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41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18A2D0-A841-BD66-A6E3-99BC1FFB6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68847"/>
              </p:ext>
            </p:extLst>
          </p:nvPr>
        </p:nvGraphicFramePr>
        <p:xfrm>
          <a:off x="297180" y="0"/>
          <a:ext cx="9014464" cy="697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616">
                  <a:extLst>
                    <a:ext uri="{9D8B030D-6E8A-4147-A177-3AD203B41FA5}">
                      <a16:colId xmlns:a16="http://schemas.microsoft.com/office/drawing/2014/main" val="360747784"/>
                    </a:ext>
                  </a:extLst>
                </a:gridCol>
                <a:gridCol w="2253616">
                  <a:extLst>
                    <a:ext uri="{9D8B030D-6E8A-4147-A177-3AD203B41FA5}">
                      <a16:colId xmlns:a16="http://schemas.microsoft.com/office/drawing/2014/main" val="3295828714"/>
                    </a:ext>
                  </a:extLst>
                </a:gridCol>
                <a:gridCol w="2253616">
                  <a:extLst>
                    <a:ext uri="{9D8B030D-6E8A-4147-A177-3AD203B41FA5}">
                      <a16:colId xmlns:a16="http://schemas.microsoft.com/office/drawing/2014/main" val="1565652948"/>
                    </a:ext>
                  </a:extLst>
                </a:gridCol>
                <a:gridCol w="2253616">
                  <a:extLst>
                    <a:ext uri="{9D8B030D-6E8A-4147-A177-3AD203B41FA5}">
                      <a16:colId xmlns:a16="http://schemas.microsoft.com/office/drawing/2014/main" val="3239842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after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-0.279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-0.285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(0.264)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(0.263)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45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 abroad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-0.0001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51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(0.011)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(0.011)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support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35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(0.143)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74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2.920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2.978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3.150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90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(0.437)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(0.512)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(0.522)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4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3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50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R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15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 Std. Error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 (df = 295)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 (df = 288)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0.940 (df = 287)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22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Statistic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29.570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(df = 4; 295)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10.875</a:t>
                      </a:r>
                      <a:r>
                        <a:rPr lang="en-IN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(df = 11; 288)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10.253</a:t>
                      </a:r>
                      <a:r>
                        <a:rPr lang="en-IN" sz="1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12; 287)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605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B2DCA8-3376-BBA0-3ED5-56849CD8B72A}"/>
              </a:ext>
            </a:extLst>
          </p:cNvPr>
          <p:cNvSpPr txBox="1"/>
          <p:nvPr/>
        </p:nvSpPr>
        <p:spPr>
          <a:xfrm>
            <a:off x="9311644" y="4415909"/>
            <a:ext cx="3047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p&lt;0.1; </a:t>
            </a:r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p&lt;0.05; </a:t>
            </a:r>
            <a:r>
              <a:rPr lang="nn-NO" sz="1800" b="0" i="0" u="none" strike="noStrike" baseline="30000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***</a:t>
            </a:r>
            <a:r>
              <a:rPr lang="nn-NO" sz="1800" b="0" i="0" u="none" strike="noStrike" dirty="0">
                <a:solidFill>
                  <a:srgbClr val="D4AF37"/>
                </a:solidFill>
                <a:effectLst/>
                <a:latin typeface="Arial" panose="020B0604020202020204" pitchFamily="34" charset="0"/>
              </a:rPr>
              <a:t>p&lt;0.01</a:t>
            </a:r>
            <a:endParaRPr lang="en-IN" dirty="0">
              <a:solidFill>
                <a:srgbClr val="D4AF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44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790F5-1C98-5DD8-1753-FD1A6F4D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CA7E3-1714-1083-95AD-DF7338AD3C0F}"/>
              </a:ext>
            </a:extLst>
          </p:cNvPr>
          <p:cNvSpPr/>
          <p:nvPr/>
        </p:nvSpPr>
        <p:spPr>
          <a:xfrm>
            <a:off x="187569" y="284578"/>
            <a:ext cx="5768342" cy="4652010"/>
          </a:xfrm>
          <a:prstGeom prst="rect">
            <a:avLst/>
          </a:prstGeom>
          <a:solidFill>
            <a:srgbClr val="021F64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179B3-E169-318E-A8F5-4572D78B0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32" y="651511"/>
            <a:ext cx="5248058" cy="39836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1E45D6-6288-8E72-F013-DF081335A0D3}"/>
              </a:ext>
            </a:extLst>
          </p:cNvPr>
          <p:cNvSpPr/>
          <p:nvPr/>
        </p:nvSpPr>
        <p:spPr>
          <a:xfrm>
            <a:off x="6236089" y="1386548"/>
            <a:ext cx="5768342" cy="4652010"/>
          </a:xfrm>
          <a:prstGeom prst="rect">
            <a:avLst/>
          </a:prstGeom>
          <a:solidFill>
            <a:srgbClr val="021F64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43A259-46A9-4E54-5471-89296A85C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163" y="1720750"/>
            <a:ext cx="5588193" cy="398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24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0B7C1-45C9-67AE-E434-85B54A29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0AB59-7974-A4A7-ACB1-C3D0EC86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54" y="1140311"/>
            <a:ext cx="7666892" cy="47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83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72373-CF2A-AF6A-C56D-472AA9F6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9DA07-667B-9E64-E329-77A3409C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61" y="268942"/>
            <a:ext cx="4977114" cy="366793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0E79B7-5E2C-6E44-0C81-141BD7FE4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32612"/>
              </p:ext>
            </p:extLst>
          </p:nvPr>
        </p:nvGraphicFramePr>
        <p:xfrm>
          <a:off x="3785496" y="3978910"/>
          <a:ext cx="812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680414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48565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021F64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D4AF37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 dirty="0">
                        <a:solidFill>
                          <a:srgbClr val="D4AF37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021F64">
                        <a:alpha val="8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10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Items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27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Cronbach’s Alpha (Raw)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479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Alpha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52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inter-item correlation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Size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solidFill>
                      <a:srgbClr val="DAE4FE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160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28A4D8-DF9E-F5C3-C822-AF088CAB2D5F}"/>
              </a:ext>
            </a:extLst>
          </p:cNvPr>
          <p:cNvSpPr txBox="1"/>
          <p:nvPr/>
        </p:nvSpPr>
        <p:spPr>
          <a:xfrm>
            <a:off x="6593541" y="3429000"/>
            <a:ext cx="40341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test of skill index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325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F64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CE314D-8C0B-A18A-14B3-ED992D5A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AB23-1CAF-40BB-BA41-43A8D343B255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3087</Words>
  <Application>Microsoft Office PowerPoint</Application>
  <PresentationFormat>Widescreen</PresentationFormat>
  <Paragraphs>1183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Drisya Krishnan M</dc:creator>
  <cp:lastModifiedBy>Drisya Krishnan M</cp:lastModifiedBy>
  <cp:revision>4</cp:revision>
  <dcterms:created xsi:type="dcterms:W3CDTF">2026-03-30T08:10:49Z</dcterms:created>
  <dcterms:modified xsi:type="dcterms:W3CDTF">2026-04-01T03:14:13Z</dcterms:modified>
</cp:coreProperties>
</file>